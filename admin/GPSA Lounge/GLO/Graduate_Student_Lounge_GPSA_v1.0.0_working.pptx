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lounge as a graduate student third place with shared expectations, not a rulebook reading.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Emphasize the positive purpose first: active graduate use is the reason the lounge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this slide procedural: eligibility, agreement, form, credential. Avoid debating exact hours until confirmed.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as the culture slide: lively but respectful, active but not chaotic.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image here is about activity and supplies, not exhaustive inventory.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frames the Kuali form as the key fairness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 not overstate surveillance details beyond the source. Mention CCTV only if asked verbally.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to move from inventory to ownership. Supplies without upkeep are not a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Return to the core frame: governance should preserve the third-place feeling, not smother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by asking for final policy decisions and review comments. The disclosure is included because the deck is an agent deliverable.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gp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29768"/>
            <a:ext cx="1691640" cy="1701508"/>
          </a:xfrm>
          <a:prstGeom prst="rect">
            <a:avLst/>
          </a:prstGeom>
        </p:spPr>
      </p:pic>
      <p:pic>
        <p:nvPicPr>
          <p:cNvPr id="4" name="Picture 3" descr="crop_IMG_3581_deck_6.95_0.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0"/>
            <a:ext cx="5833872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126480" y="0"/>
            <a:ext cx="640080" cy="6858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5349240" cy="11430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3300" b="1">
                <a:solidFill>
                  <a:srgbClr val="FFFFFF"/>
                </a:solidFill>
                <a:latin typeface="Aptos Display"/>
              </a:rPr>
              <a:t>GRADUATE STUDENT LOUNGE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310128"/>
            <a:ext cx="4892040" cy="6583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800" b="0">
                <a:solidFill>
                  <a:srgbClr val="D2D8DC"/>
                </a:solidFill>
                <a:latin typeface="Aptos"/>
              </a:rPr>
              <a:t>GPSA briefing on access, expectations, and shared stewardship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251960"/>
            <a:ext cx="1691640" cy="347472"/>
          </a:xfrm>
          <a:prstGeom prst="round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4325112"/>
            <a:ext cx="1472184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950" b="1">
                <a:solidFill>
                  <a:srgbClr val="0C0C0C"/>
                </a:solidFill>
                <a:latin typeface="Aptos"/>
              </a:rPr>
              <a:t>UC San Diego GPSA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800600"/>
            <a:ext cx="20116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200" b="0">
                <a:solidFill>
                  <a:srgbClr val="D2D8DC"/>
                </a:solidFill>
                <a:latin typeface="Aptos"/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530352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850" b="1">
                <a:solidFill>
                  <a:srgbClr val="5B636C"/>
                </a:solidFill>
                <a:latin typeface="Aptos"/>
              </a:rPr>
              <a:t>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704088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2200" b="1">
                <a:solidFill>
                  <a:srgbClr val="1C2127"/>
                </a:solidFill>
                <a:latin typeface="Aptos Display"/>
              </a:rPr>
              <a:t>Why the lounge exists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927080" cy="32004"/>
          </a:xfrm>
          <a:prstGeom prst="rect">
            <a:avLst/>
          </a:prstGeom>
          <a:solidFill>
            <a:srgbClr val="183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5715000" cy="9601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2700" b="1">
                <a:solidFill>
                  <a:srgbClr val="183C70"/>
                </a:solidFill>
                <a:latin typeface="Aptos Display"/>
              </a:rPr>
              <a:t>A visible graduate student home base keeps the space active, welcoming, and protected for graduate use.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2926079"/>
            <a:ext cx="164592" cy="164592"/>
          </a:xfrm>
          <a:prstGeom prst="ellipse">
            <a:avLst/>
          </a:prstGeom>
          <a:solidFill>
            <a:srgbClr val="00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880360"/>
            <a:ext cx="5239512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50" b="0">
                <a:solidFill>
                  <a:srgbClr val="1C2127"/>
                </a:solidFill>
                <a:latin typeface="Aptos"/>
              </a:rPr>
              <a:t>A third place for studying, informal conversation, breaks, and community.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3547872"/>
            <a:ext cx="164592" cy="164592"/>
          </a:xfrm>
          <a:prstGeom prst="ellipse">
            <a:avLst/>
          </a:prstGeom>
          <a:solidFill>
            <a:srgbClr val="00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502152"/>
            <a:ext cx="5239512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50" b="0">
                <a:solidFill>
                  <a:srgbClr val="1C2127"/>
                </a:solidFill>
                <a:latin typeface="Aptos"/>
              </a:rPr>
              <a:t>A commuter-friendly space to prepare food and store items short term.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4169663"/>
            <a:ext cx="164592" cy="164592"/>
          </a:xfrm>
          <a:prstGeom prst="ellipse">
            <a:avLst/>
          </a:prstGeom>
          <a:solidFill>
            <a:srgbClr val="00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123944"/>
            <a:ext cx="5239512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50" b="0">
                <a:solidFill>
                  <a:srgbClr val="1C2127"/>
                </a:solidFill>
                <a:latin typeface="Aptos"/>
              </a:rPr>
              <a:t>A shared resource that must stay used, cared for, and clearly governed.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1719072"/>
            <a:ext cx="434340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903720" y="1719072"/>
            <a:ext cx="73152" cy="1874519"/>
          </a:xfrm>
          <a:prstGeom prst="rect">
            <a:avLst/>
          </a:prstGeom>
          <a:solidFill>
            <a:srgbClr val="00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0" y="1883664"/>
            <a:ext cx="393192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00" b="1">
                <a:solidFill>
                  <a:srgbClr val="1C2127"/>
                </a:solidFill>
                <a:latin typeface="Aptos"/>
              </a:rPr>
              <a:t>Committee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286000"/>
            <a:ext cx="3931920" cy="118871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180" b="0">
                <a:solidFill>
                  <a:srgbClr val="5B636C"/>
                </a:solidFill>
                <a:latin typeface="Aptos"/>
              </a:rPr>
              <a:t>Meeting #1 focused on opening the lounge responsibly, setting terms of use, access process, cleaning expectations, and supplies.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3913632"/>
            <a:ext cx="43434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903720" y="3913632"/>
            <a:ext cx="73152" cy="141732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0" y="4078224"/>
            <a:ext cx="393192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00" b="1">
                <a:solidFill>
                  <a:srgbClr val="1C2127"/>
                </a:solidFill>
                <a:latin typeface="Aptos"/>
              </a:rPr>
              <a:t>Why now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480560"/>
            <a:ext cx="393192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180" b="0">
                <a:solidFill>
                  <a:srgbClr val="5B636C"/>
                </a:solidFill>
                <a:latin typeface="Aptos"/>
              </a:rPr>
              <a:t>If the lounge is not opened to graduate students, campus may reclaim the space for another purpose.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530352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850" b="1">
                <a:solidFill>
                  <a:srgbClr val="5B636C"/>
                </a:solidFill>
                <a:latin typeface="Aptos"/>
              </a:rPr>
              <a:t>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704088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2200" b="1">
                <a:solidFill>
                  <a:srgbClr val="1C2127"/>
                </a:solidFill>
                <a:latin typeface="Aptos Display"/>
              </a:rPr>
              <a:t>Who can use it and 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927080" cy="32004"/>
          </a:xfrm>
          <a:prstGeom prst="rect">
            <a:avLst/>
          </a:prstGeom>
          <a:solidFill>
            <a:srgbClr val="183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627632"/>
            <a:ext cx="489204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27632"/>
            <a:ext cx="73152" cy="1417320"/>
          </a:xfrm>
          <a:prstGeom prst="rect">
            <a:avLst/>
          </a:prstGeom>
          <a:solidFill>
            <a:srgbClr val="183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92224"/>
            <a:ext cx="4480559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00" b="1">
                <a:solidFill>
                  <a:srgbClr val="1C2127"/>
                </a:solidFill>
                <a:latin typeface="Aptos"/>
              </a:rPr>
              <a:t>Eligible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4480559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180" b="0">
                <a:solidFill>
                  <a:srgbClr val="5B636C"/>
                </a:solidFill>
                <a:latin typeface="Aptos"/>
              </a:rPr>
              <a:t>Currently enrolled UC San Diego graduate and professional students, plus registered graduate student organizations.</a:t>
            </a:r>
          </a:p>
        </p:txBody>
      </p:sp>
      <p:sp>
        <p:nvSpPr>
          <p:cNvPr id="10" name="Oval 9"/>
          <p:cNvSpPr/>
          <p:nvPr/>
        </p:nvSpPr>
        <p:spPr>
          <a:xfrm>
            <a:off x="4910328" y="1792224"/>
            <a:ext cx="384048" cy="384048"/>
          </a:xfrm>
          <a:prstGeom prst="ellipse">
            <a:avLst/>
          </a:prstGeom>
          <a:solidFill>
            <a:srgbClr val="183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1768" y="1892807"/>
            <a:ext cx="201168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27632"/>
            <a:ext cx="489204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1627632"/>
            <a:ext cx="73152" cy="1417320"/>
          </a:xfrm>
          <a:prstGeom prst="rect">
            <a:avLst/>
          </a:prstGeom>
          <a:solidFill>
            <a:srgbClr val="00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792224"/>
            <a:ext cx="4480559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00" b="1">
                <a:solidFill>
                  <a:srgbClr val="1C2127"/>
                </a:solidFill>
                <a:latin typeface="Aptos"/>
              </a:rPr>
              <a:t>Agreement 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94560"/>
            <a:ext cx="4480559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180" b="0">
                <a:solidFill>
                  <a:srgbClr val="5B636C"/>
                </a:solidFill>
                <a:latin typeface="Aptos"/>
              </a:rPr>
              <a:t>Users review and agree to the Terms of Use before access is granted.</a:t>
            </a:r>
          </a:p>
        </p:txBody>
      </p:sp>
      <p:sp>
        <p:nvSpPr>
          <p:cNvPr id="16" name="Oval 15"/>
          <p:cNvSpPr/>
          <p:nvPr/>
        </p:nvSpPr>
        <p:spPr>
          <a:xfrm>
            <a:off x="10396728" y="1792224"/>
            <a:ext cx="384048" cy="384048"/>
          </a:xfrm>
          <a:prstGeom prst="ellipse">
            <a:avLst/>
          </a:prstGeom>
          <a:solidFill>
            <a:srgbClr val="00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488167" y="1892807"/>
            <a:ext cx="201168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502152"/>
            <a:ext cx="489204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3502152"/>
            <a:ext cx="73152" cy="1417320"/>
          </a:xfrm>
          <a:prstGeom prst="rect">
            <a:avLst/>
          </a:prstGeom>
          <a:solidFill>
            <a:srgbClr val="588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666744"/>
            <a:ext cx="4480559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00" b="1">
                <a:solidFill>
                  <a:srgbClr val="1C2127"/>
                </a:solidFill>
                <a:latin typeface="Aptos"/>
              </a:rPr>
              <a:t>Kuali request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69080"/>
            <a:ext cx="4480559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180" b="0">
                <a:solidFill>
                  <a:srgbClr val="5B636C"/>
                </a:solidFill>
                <a:latin typeface="Aptos"/>
              </a:rPr>
              <a:t>The form may request general access, event use, or both. Each event needs its own request.</a:t>
            </a:r>
          </a:p>
        </p:txBody>
      </p:sp>
      <p:sp>
        <p:nvSpPr>
          <p:cNvPr id="22" name="Oval 21"/>
          <p:cNvSpPr/>
          <p:nvPr/>
        </p:nvSpPr>
        <p:spPr>
          <a:xfrm>
            <a:off x="4910328" y="3666744"/>
            <a:ext cx="384048" cy="384048"/>
          </a:xfrm>
          <a:prstGeom prst="ellipse">
            <a:avLst/>
          </a:prstGeom>
          <a:solidFill>
            <a:srgbClr val="588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01768" y="3767328"/>
            <a:ext cx="201168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502152"/>
            <a:ext cx="489204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72200" y="3502152"/>
            <a:ext cx="73152" cy="141732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3666744"/>
            <a:ext cx="4480559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00" b="1">
                <a:solidFill>
                  <a:srgbClr val="1C2127"/>
                </a:solidFill>
                <a:latin typeface="Aptos"/>
              </a:rPr>
              <a:t>Credential 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069080"/>
            <a:ext cx="4480559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180" b="0">
                <a:solidFill>
                  <a:srgbClr val="5B636C"/>
                </a:solidFill>
                <a:latin typeface="Aptos"/>
              </a:rPr>
              <a:t>Users should carry a valid graduate or professional student ID while using the lounge.</a:t>
            </a:r>
          </a:p>
        </p:txBody>
      </p:sp>
      <p:sp>
        <p:nvSpPr>
          <p:cNvPr id="28" name="Oval 27"/>
          <p:cNvSpPr/>
          <p:nvPr/>
        </p:nvSpPr>
        <p:spPr>
          <a:xfrm>
            <a:off x="10396728" y="3666744"/>
            <a:ext cx="384048" cy="384048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88167" y="3767328"/>
            <a:ext cx="201168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5632704"/>
            <a:ext cx="1033272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600" b="1">
                <a:solidFill>
                  <a:srgbClr val="183C70"/>
                </a:solidFill>
                <a:latin typeface="Aptos"/>
              </a:rPr>
              <a:t>Access is a privilege tied to stewardship, fairness, and safety.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530352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850" b="1">
                <a:solidFill>
                  <a:srgbClr val="D2D8DC"/>
                </a:solidFill>
                <a:latin typeface="Aptos"/>
              </a:rPr>
              <a:t>EXPECTATIONS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704088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ptos Display"/>
              </a:rPr>
              <a:t>The lounge works when everyone protects the vibe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927080" cy="3200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9808" y="1673352"/>
            <a:ext cx="4800600" cy="1143000"/>
          </a:xfrm>
          <a:prstGeom prst="roundRect">
            <a:avLst/>
          </a:prstGeom>
          <a:solidFill>
            <a:srgbClr val="1F1F1F"/>
          </a:solidFill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7" y="1837944"/>
            <a:ext cx="429768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Respect the room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7" y="2203704"/>
            <a:ext cx="434340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150" b="0">
                <a:solidFill>
                  <a:srgbClr val="D2D8DC"/>
                </a:solidFill>
                <a:latin typeface="Aptos"/>
              </a:rPr>
              <a:t>Individual or small-group use. Keep calls outside or in the breezeway.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1928" y="1673352"/>
            <a:ext cx="4800600" cy="1143000"/>
          </a:xfrm>
          <a:prstGeom prst="roundRect">
            <a:avLst/>
          </a:prstGeom>
          <a:solidFill>
            <a:srgbClr val="1F1F1F"/>
          </a:solidFill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0528" y="1837944"/>
            <a:ext cx="429768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Keep it flexible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203704"/>
            <a:ext cx="434340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150" b="0">
                <a:solidFill>
                  <a:srgbClr val="D2D8DC"/>
                </a:solidFill>
                <a:latin typeface="Aptos"/>
              </a:rPr>
              <a:t>Projector use is first come, first served and should not monopolize the space.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3319272"/>
            <a:ext cx="4800600" cy="1143000"/>
          </a:xfrm>
          <a:prstGeom prst="roundRect">
            <a:avLst/>
          </a:prstGeom>
          <a:solidFill>
            <a:srgbClr val="1F1F1F"/>
          </a:solidFill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8407" y="3483864"/>
            <a:ext cx="429768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Protect shared furniture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7" y="3849624"/>
            <a:ext cx="434340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150" b="0">
                <a:solidFill>
                  <a:srgbClr val="D2D8DC"/>
                </a:solidFill>
                <a:latin typeface="Aptos"/>
              </a:rPr>
              <a:t>Do not move large sofas, lamps, bookshelves, or fixed setup items.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3319272"/>
            <a:ext cx="4800600" cy="1143000"/>
          </a:xfrm>
          <a:prstGeom prst="roundRect">
            <a:avLst/>
          </a:prstGeom>
          <a:solidFill>
            <a:srgbClr val="1F1F1F"/>
          </a:solidFill>
          <a:ln>
            <a:solidFill>
              <a:srgbClr val="4A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0528" y="3483864"/>
            <a:ext cx="429768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Post responsibly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3849624"/>
            <a:ext cx="434340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150" b="0">
                <a:solidFill>
                  <a:srgbClr val="D2D8DC"/>
                </a:solidFill>
                <a:latin typeface="Aptos"/>
              </a:rPr>
              <a:t>Bulletin-board flyers should be dated, limited to standard paper size, and removed after 30 days.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230368"/>
            <a:ext cx="105156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800" b="1">
                <a:solidFill>
                  <a:srgbClr val="FFCD00"/>
                </a:solidFill>
                <a:latin typeface="Aptos"/>
              </a:rPr>
              <a:t>Policy floor: no alcohol, no sleeping or living quarters, and no camping-style use.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530352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850" b="1">
                <a:solidFill>
                  <a:srgbClr val="5B636C"/>
                </a:solidFill>
                <a:latin typeface="Aptos"/>
              </a:rPr>
              <a:t>KITCHEN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704088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2200" b="1">
                <a:solidFill>
                  <a:srgbClr val="1C2127"/>
                </a:solidFill>
                <a:latin typeface="Aptos Display"/>
              </a:rPr>
              <a:t>Leave-no-trace is the operating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927080" cy="32004"/>
          </a:xfrm>
          <a:prstGeom prst="rect">
            <a:avLst/>
          </a:prstGeom>
          <a:solidFill>
            <a:srgbClr val="183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rop_IMG_3585_deck_7.45_1.5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417320"/>
            <a:ext cx="4251960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1600200"/>
            <a:ext cx="5532120" cy="7772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2300" b="1">
                <a:solidFill>
                  <a:srgbClr val="183C70"/>
                </a:solidFill>
                <a:latin typeface="Aptos Display"/>
              </a:rPr>
              <a:t>The kitchen supports commuters and community, but access depends on clean handoff to the next student.</a:t>
            </a:r>
          </a:p>
        </p:txBody>
      </p:sp>
      <p:sp>
        <p:nvSpPr>
          <p:cNvPr id="8" name="Oval 7"/>
          <p:cNvSpPr/>
          <p:nvPr/>
        </p:nvSpPr>
        <p:spPr>
          <a:xfrm>
            <a:off x="713232" y="2807208"/>
            <a:ext cx="164592" cy="164592"/>
          </a:xfrm>
          <a:prstGeom prst="ellipse">
            <a:avLst/>
          </a:prstGeom>
          <a:solidFill>
            <a:srgbClr val="588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761488"/>
            <a:ext cx="5239512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420" b="0">
                <a:solidFill>
                  <a:srgbClr val="1C2127"/>
                </a:solidFill>
                <a:latin typeface="Aptos"/>
              </a:rPr>
              <a:t>Wash, dry, and put away reusable plates, mugs, and utensils.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3337560"/>
            <a:ext cx="164592" cy="164592"/>
          </a:xfrm>
          <a:prstGeom prst="ellipse">
            <a:avLst/>
          </a:prstGeom>
          <a:solidFill>
            <a:srgbClr val="588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291840"/>
            <a:ext cx="5239512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420" b="0">
                <a:solidFill>
                  <a:srgbClr val="1C2127"/>
                </a:solidFill>
                <a:latin typeface="Aptos"/>
              </a:rPr>
              <a:t>Wipe counters, clean microwave spills, and report broken items by QR code.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3867911"/>
            <a:ext cx="164592" cy="164592"/>
          </a:xfrm>
          <a:prstGeom prst="ellipse">
            <a:avLst/>
          </a:prstGeom>
          <a:solidFill>
            <a:srgbClr val="588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822191"/>
            <a:ext cx="5239512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420" b="0">
                <a:solidFill>
                  <a:srgbClr val="1C2127"/>
                </a:solidFill>
                <a:latin typeface="Aptos"/>
              </a:rPr>
              <a:t>Label fridge and freezer items with full name and date.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4398264"/>
            <a:ext cx="164592" cy="164592"/>
          </a:xfrm>
          <a:prstGeom prst="ellipse">
            <a:avLst/>
          </a:prstGeom>
          <a:solidFill>
            <a:srgbClr val="588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352544"/>
            <a:ext cx="5239512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420" b="0">
                <a:solidFill>
                  <a:srgbClr val="1C2127"/>
                </a:solidFill>
                <a:latin typeface="Aptos"/>
              </a:rPr>
              <a:t>No grease, solid food, or foreign substances down the sink.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696712"/>
            <a:ext cx="5349240" cy="4389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170" b="0">
                <a:solidFill>
                  <a:srgbClr val="5B636C"/>
                </a:solidFill>
                <a:latin typeface="Aptos"/>
              </a:rPr>
              <a:t>Fridge cleanout: every other Friday before 7pm, with reusable items moved to lost and found when feasible.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530352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850" b="1">
                <a:solidFill>
                  <a:srgbClr val="5B636C"/>
                </a:solidFill>
                <a:latin typeface="Aptos"/>
              </a:rPr>
              <a:t>RESERVATIONS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704088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2200" b="1">
                <a:solidFill>
                  <a:srgbClr val="1C2127"/>
                </a:solidFill>
                <a:latin typeface="Aptos Display"/>
              </a:rPr>
              <a:t>Reservations should be visible and fair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927080" cy="32004"/>
          </a:xfrm>
          <a:prstGeom prst="rect">
            <a:avLst/>
          </a:prstGeom>
          <a:solidFill>
            <a:srgbClr val="183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645920"/>
            <a:ext cx="42062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900" b="1">
                <a:solidFill>
                  <a:srgbClr val="183C70"/>
                </a:solidFill>
                <a:latin typeface="Aptos"/>
              </a:rPr>
              <a:t>Conference room baseline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194560"/>
            <a:ext cx="164592" cy="164592"/>
          </a:xfrm>
          <a:prstGeom prst="ellipse">
            <a:avLst/>
          </a:prstGeom>
          <a:solidFill>
            <a:srgbClr val="183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2148840"/>
            <a:ext cx="4507992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50" b="0">
                <a:solidFill>
                  <a:srgbClr val="1C2127"/>
                </a:solidFill>
                <a:latin typeface="Aptos"/>
              </a:rPr>
              <a:t>Book up to two hours per day in 30-minute segments.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798064"/>
            <a:ext cx="164592" cy="164592"/>
          </a:xfrm>
          <a:prstGeom prst="ellipse">
            <a:avLst/>
          </a:prstGeom>
          <a:solidFill>
            <a:srgbClr val="183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9848" y="2752344"/>
            <a:ext cx="4507992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50" b="0">
                <a:solidFill>
                  <a:srgbClr val="1C2127"/>
                </a:solidFill>
                <a:latin typeface="Aptos"/>
              </a:rPr>
              <a:t>When unbooked, the room is first come, first served.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401568"/>
            <a:ext cx="164592" cy="164592"/>
          </a:xfrm>
          <a:prstGeom prst="ellipse">
            <a:avLst/>
          </a:prstGeom>
          <a:solidFill>
            <a:srgbClr val="183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9848" y="3355848"/>
            <a:ext cx="4507992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50" b="0">
                <a:solidFill>
                  <a:srgbClr val="1C2127"/>
                </a:solidFill>
                <a:latin typeface="Aptos"/>
              </a:rPr>
              <a:t>Unattended items do not reserve a room.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45920"/>
            <a:ext cx="36576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900" b="1">
                <a:solidFill>
                  <a:srgbClr val="183C70"/>
                </a:solidFill>
                <a:latin typeface="Aptos"/>
              </a:rPr>
              <a:t>Event use</a:t>
            </a:r>
          </a:p>
        </p:txBody>
      </p:sp>
      <p:sp>
        <p:nvSpPr>
          <p:cNvPr id="14" name="Oval 13"/>
          <p:cNvSpPr/>
          <p:nvPr/>
        </p:nvSpPr>
        <p:spPr>
          <a:xfrm>
            <a:off x="6473952" y="2194560"/>
            <a:ext cx="164592" cy="164592"/>
          </a:xfrm>
          <a:prstGeom prst="ellipse">
            <a:avLst/>
          </a:prstGeom>
          <a:solidFill>
            <a:srgbClr val="00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66560" y="2148840"/>
            <a:ext cx="4416552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00" b="0">
                <a:solidFill>
                  <a:srgbClr val="1C2127"/>
                </a:solidFill>
                <a:latin typeface="Aptos"/>
              </a:rPr>
              <a:t>Submit a separate Kuali request for each reservation or event.</a:t>
            </a:r>
          </a:p>
        </p:txBody>
      </p:sp>
      <p:sp>
        <p:nvSpPr>
          <p:cNvPr id="16" name="Oval 15"/>
          <p:cNvSpPr/>
          <p:nvPr/>
        </p:nvSpPr>
        <p:spPr>
          <a:xfrm>
            <a:off x="6473952" y="2798064"/>
            <a:ext cx="164592" cy="164592"/>
          </a:xfrm>
          <a:prstGeom prst="ellipse">
            <a:avLst/>
          </a:prstGeom>
          <a:solidFill>
            <a:srgbClr val="00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2752344"/>
            <a:ext cx="4416552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00" b="0">
                <a:solidFill>
                  <a:srgbClr val="1C2127"/>
                </a:solidFill>
                <a:latin typeface="Aptos"/>
              </a:rPr>
              <a:t>Approval can consider purpose, availability, history of rule compliance, and fair access.</a:t>
            </a:r>
          </a:p>
        </p:txBody>
      </p:sp>
      <p:sp>
        <p:nvSpPr>
          <p:cNvPr id="18" name="Oval 17"/>
          <p:cNvSpPr/>
          <p:nvPr/>
        </p:nvSpPr>
        <p:spPr>
          <a:xfrm>
            <a:off x="6473952" y="3401568"/>
            <a:ext cx="164592" cy="164592"/>
          </a:xfrm>
          <a:prstGeom prst="ellipse">
            <a:avLst/>
          </a:prstGeom>
          <a:solidFill>
            <a:srgbClr val="00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0" y="3355848"/>
            <a:ext cx="4416552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00" b="0">
                <a:solidFill>
                  <a:srgbClr val="1C2127"/>
                </a:solidFill>
                <a:latin typeface="Aptos"/>
              </a:rPr>
              <a:t>Registered graduate student organizations share responsibility for cleanup and guest behavior.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074920"/>
            <a:ext cx="10378440" cy="658368"/>
          </a:xfrm>
          <a:prstGeom prst="roundRect">
            <a:avLst/>
          </a:prstGeom>
          <a:solidFill>
            <a:srgbClr val="E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5285232"/>
            <a:ext cx="10012680" cy="2377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430" b="1">
                <a:solidFill>
                  <a:srgbClr val="007D84"/>
                </a:solidFill>
                <a:latin typeface="Aptos"/>
              </a:rPr>
              <a:t>Visible QR codes should point students to reservations, maintenance requests, and improvement suggestions.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530352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850" b="1">
                <a:solidFill>
                  <a:srgbClr val="5B636C"/>
                </a:solidFill>
                <a:latin typeface="Aptos"/>
              </a:rPr>
              <a:t>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704088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2200" b="1">
                <a:solidFill>
                  <a:srgbClr val="1C2127"/>
                </a:solidFill>
                <a:latin typeface="Aptos Display"/>
              </a:rPr>
              <a:t>Security rules protect access for everyone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927080" cy="32004"/>
          </a:xfrm>
          <a:prstGeom prst="rect">
            <a:avLst/>
          </a:prstGeom>
          <a:solidFill>
            <a:srgbClr val="183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320040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800" b="1">
                <a:solidFill>
                  <a:srgbClr val="183C70"/>
                </a:solidFill>
                <a:latin typeface="Aptos"/>
              </a:rPr>
              <a:t>Call path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31546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2011680"/>
            <a:ext cx="73152" cy="914400"/>
          </a:xfrm>
          <a:prstGeom prst="rect">
            <a:avLst/>
          </a:prstGeom>
          <a:solidFill>
            <a:srgbClr val="C63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176272"/>
            <a:ext cx="274320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00" b="1">
                <a:solidFill>
                  <a:srgbClr val="1C2127"/>
                </a:solidFill>
                <a:latin typeface="Aptos"/>
              </a:rPr>
              <a:t>Emergency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78608"/>
            <a:ext cx="27432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180" b="0">
                <a:solidFill>
                  <a:srgbClr val="5B636C"/>
                </a:solidFill>
                <a:latin typeface="Aptos"/>
              </a:rPr>
              <a:t>Call 911.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200400"/>
            <a:ext cx="31546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3200400"/>
            <a:ext cx="73152" cy="960120"/>
          </a:xfrm>
          <a:prstGeom prst="rect">
            <a:avLst/>
          </a:prstGeom>
          <a:solidFill>
            <a:srgbClr val="183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364992"/>
            <a:ext cx="274320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00" b="1">
                <a:solidFill>
                  <a:srgbClr val="1C2127"/>
                </a:solidFill>
                <a:latin typeface="Aptos"/>
              </a:rPr>
              <a:t>Library Safety &amp;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67328"/>
            <a:ext cx="2743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180" b="0">
                <a:solidFill>
                  <a:srgbClr val="5B636C"/>
                </a:solidFill>
                <a:latin typeface="Aptos"/>
              </a:rPr>
              <a:t>858-282-3602 for other concerns.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31546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4434840"/>
            <a:ext cx="73152" cy="960120"/>
          </a:xfrm>
          <a:prstGeom prst="rect">
            <a:avLst/>
          </a:prstGeom>
          <a:solidFill>
            <a:srgbClr val="00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599431"/>
            <a:ext cx="274320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00" b="1">
                <a:solidFill>
                  <a:srgbClr val="1C2127"/>
                </a:solidFill>
                <a:latin typeface="Aptos"/>
              </a:rPr>
              <a:t>UC Campus Police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01768"/>
            <a:ext cx="2743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180" b="0">
                <a:solidFill>
                  <a:srgbClr val="5B636C"/>
                </a:solidFill>
                <a:latin typeface="Aptos"/>
              </a:rPr>
              <a:t>858-534-4357 if there is no answer.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664208"/>
            <a:ext cx="6355080" cy="10515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2400" b="1">
                <a:solidFill>
                  <a:srgbClr val="1C2127"/>
                </a:solidFill>
                <a:latin typeface="Aptos Display"/>
              </a:rPr>
              <a:t>Access can be removed for safety risks, security concerns, property damage, cleanliness problems, unauthorized entry, unapproved use, or repeated rule violations.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3108960"/>
            <a:ext cx="164592" cy="164592"/>
          </a:xfrm>
          <a:prstGeom prst="ellipse">
            <a:avLst/>
          </a:prstGeom>
          <a:solidFill>
            <a:srgbClr val="C63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10328" y="3063240"/>
            <a:ext cx="5925312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420" b="0">
                <a:solidFill>
                  <a:srgbClr val="1C2127"/>
                </a:solidFill>
                <a:latin typeface="Aptos"/>
              </a:rPr>
              <a:t>Use your own access card or approved code only.</a:t>
            </a:r>
          </a:p>
        </p:txBody>
      </p:sp>
      <p:sp>
        <p:nvSpPr>
          <p:cNvPr id="22" name="Oval 21"/>
          <p:cNvSpPr/>
          <p:nvPr/>
        </p:nvSpPr>
        <p:spPr>
          <a:xfrm>
            <a:off x="4617720" y="3648456"/>
            <a:ext cx="164592" cy="164592"/>
          </a:xfrm>
          <a:prstGeom prst="ellipse">
            <a:avLst/>
          </a:prstGeom>
          <a:solidFill>
            <a:srgbClr val="C63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10328" y="3602736"/>
            <a:ext cx="5925312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420" b="0">
                <a:solidFill>
                  <a:srgbClr val="1C2127"/>
                </a:solidFill>
                <a:latin typeface="Aptos"/>
              </a:rPr>
              <a:t>Do not share access, prop doors, or bypass locks.</a:t>
            </a:r>
          </a:p>
        </p:txBody>
      </p:sp>
      <p:sp>
        <p:nvSpPr>
          <p:cNvPr id="24" name="Oval 23"/>
          <p:cNvSpPr/>
          <p:nvPr/>
        </p:nvSpPr>
        <p:spPr>
          <a:xfrm>
            <a:off x="4617720" y="4187952"/>
            <a:ext cx="164592" cy="164592"/>
          </a:xfrm>
          <a:prstGeom prst="ellipse">
            <a:avLst/>
          </a:prstGeom>
          <a:solidFill>
            <a:srgbClr val="C63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10328" y="4142232"/>
            <a:ext cx="5925312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420" b="0">
                <a:solidFill>
                  <a:srgbClr val="1C2127"/>
                </a:solidFill>
                <a:latin typeface="Aptos"/>
              </a:rPr>
              <a:t>Written warnings may apply for less serious concerns; serious concerns can trigger immediate removal.</a:t>
            </a:r>
          </a:p>
        </p:txBody>
      </p:sp>
      <p:sp>
        <p:nvSpPr>
          <p:cNvPr id="26" name="Oval 25"/>
          <p:cNvSpPr/>
          <p:nvPr/>
        </p:nvSpPr>
        <p:spPr>
          <a:xfrm>
            <a:off x="4617720" y="4727448"/>
            <a:ext cx="164592" cy="164592"/>
          </a:xfrm>
          <a:prstGeom prst="ellipse">
            <a:avLst/>
          </a:prstGeom>
          <a:solidFill>
            <a:srgbClr val="C63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10328" y="4681728"/>
            <a:ext cx="5925312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420" b="0">
                <a:solidFill>
                  <a:srgbClr val="1C2127"/>
                </a:solidFill>
                <a:latin typeface="Aptos"/>
              </a:rPr>
              <a:t>Individual access removal is permanent. Organization removal lasts at least one year.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530352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850" b="1">
                <a:solidFill>
                  <a:srgbClr val="5B636C"/>
                </a:solidFill>
                <a:latin typeface="Aptos"/>
              </a:rPr>
              <a:t>SHARED UPKEEP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704088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2200" b="1">
                <a:solidFill>
                  <a:srgbClr val="1C2127"/>
                </a:solidFill>
                <a:latin typeface="Aptos Display"/>
              </a:rPr>
              <a:t>Supplies make the lounge useful only if they stay organized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927080" cy="32004"/>
          </a:xfrm>
          <a:prstGeom prst="rect">
            <a:avLst/>
          </a:prstGeom>
          <a:solidFill>
            <a:srgbClr val="183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1691640"/>
            <a:ext cx="3246120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3232" y="1691640"/>
            <a:ext cx="73152" cy="2286000"/>
          </a:xfrm>
          <a:prstGeom prst="rect">
            <a:avLst/>
          </a:prstGeom>
          <a:solidFill>
            <a:srgbClr val="588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856232"/>
            <a:ext cx="2834639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00" b="1">
                <a:solidFill>
                  <a:srgbClr val="1C2127"/>
                </a:solidFill>
                <a:latin typeface="Aptos"/>
              </a:rPr>
              <a:t>Kitchen basics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258568"/>
            <a:ext cx="2834639" cy="1600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180" b="0">
                <a:solidFill>
                  <a:srgbClr val="5B636C"/>
                </a:solidFill>
                <a:latin typeface="Aptos"/>
              </a:rPr>
              <a:t>Coffee maker, water dispenser, tea, coffee, creamer, sweeteners, dish soap, sponges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691640"/>
            <a:ext cx="3246120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16552" y="1691640"/>
            <a:ext cx="73152" cy="2286000"/>
          </a:xfrm>
          <a:prstGeom prst="rect">
            <a:avLst/>
          </a:prstGeom>
          <a:solidFill>
            <a:srgbClr val="183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45152" y="1856232"/>
            <a:ext cx="2834639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00" b="1">
                <a:solidFill>
                  <a:srgbClr val="1C2127"/>
                </a:solidFill>
                <a:latin typeface="Aptos"/>
              </a:rPr>
              <a:t>Clean 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258568"/>
            <a:ext cx="2834639" cy="1600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180" b="0">
                <a:solidFill>
                  <a:srgbClr val="5B636C"/>
                </a:solidFill>
                <a:latin typeface="Aptos"/>
              </a:rPr>
              <a:t>Napkins, plates, cups, utensils, trash bags, paper towels, disinfecting wipes or spray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1" y="1691640"/>
            <a:ext cx="3246120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19871" y="1691640"/>
            <a:ext cx="73152" cy="2286000"/>
          </a:xfrm>
          <a:prstGeom prst="rect">
            <a:avLst/>
          </a:prstGeom>
          <a:solidFill>
            <a:srgbClr val="00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48471" y="1856232"/>
            <a:ext cx="2834639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00" b="1">
                <a:solidFill>
                  <a:srgbClr val="1C2127"/>
                </a:solidFill>
                <a:latin typeface="Aptos"/>
              </a:rPr>
              <a:t>Community extras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2258568"/>
            <a:ext cx="2834639" cy="1600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180" b="0">
                <a:solidFill>
                  <a:srgbClr val="5B636C"/>
                </a:solidFill>
                <a:latin typeface="Aptos"/>
              </a:rPr>
              <a:t>Board games, mindfulness activities, exam supplies, study supplies, bulletin-board materials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572000"/>
            <a:ext cx="301752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600" b="1">
                <a:solidFill>
                  <a:srgbClr val="183C70"/>
                </a:solidFill>
                <a:latin typeface="Aptos"/>
              </a:rPr>
              <a:t>Operating principle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983480"/>
            <a:ext cx="982980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2400" b="1">
                <a:solidFill>
                  <a:srgbClr val="1C2127"/>
                </a:solidFill>
                <a:latin typeface="Aptos Display"/>
              </a:rPr>
              <a:t>Use what you need, return what you use, and report what is missing before the lounge quietly runs down.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5815584"/>
            <a:ext cx="996696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150" b="0">
                <a:solidFill>
                  <a:srgbClr val="5B636C"/>
                </a:solidFill>
                <a:latin typeface="Aptos"/>
              </a:rPr>
              <a:t>Potential next step: decide whether rotating department representatives, executive follow-up, or a paid lounge manager owns recurring checks.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530352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850" b="1">
                <a:solidFill>
                  <a:srgbClr val="D2D8DC"/>
                </a:solidFill>
                <a:latin typeface="Aptos"/>
              </a:rPr>
              <a:t>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13232"/>
            <a:ext cx="704088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ptos Display"/>
              </a:rPr>
              <a:t>A graduate third place, not just a room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927080" cy="3200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rop_IMG_3581_deck_0_1.6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81328"/>
            <a:ext cx="5257800" cy="52852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800600" y="1481328"/>
            <a:ext cx="685800" cy="5285232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15000" y="1847088"/>
            <a:ext cx="5166360" cy="12344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The goal is a space that feels active enough to matter and cared for enough to last.</a:t>
            </a:r>
          </a:p>
        </p:txBody>
      </p:sp>
      <p:sp>
        <p:nvSpPr>
          <p:cNvPr id="9" name="Oval 8"/>
          <p:cNvSpPr/>
          <p:nvPr/>
        </p:nvSpPr>
        <p:spPr>
          <a:xfrm>
            <a:off x="5806440" y="3502151"/>
            <a:ext cx="164592" cy="164592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9048" y="3456432"/>
            <a:ext cx="4690872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430" b="0">
                <a:solidFill>
                  <a:srgbClr val="D2D8DC"/>
                </a:solidFill>
                <a:latin typeface="Aptos"/>
              </a:rPr>
              <a:t>Welcoming to all graduate and professional students.</a:t>
            </a:r>
          </a:p>
        </p:txBody>
      </p:sp>
      <p:sp>
        <p:nvSpPr>
          <p:cNvPr id="11" name="Oval 10"/>
          <p:cNvSpPr/>
          <p:nvPr/>
        </p:nvSpPr>
        <p:spPr>
          <a:xfrm>
            <a:off x="5806440" y="4005072"/>
            <a:ext cx="164592" cy="164592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99048" y="3959352"/>
            <a:ext cx="4690872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430" b="0">
                <a:solidFill>
                  <a:srgbClr val="D2D8DC"/>
                </a:solidFill>
                <a:latin typeface="Aptos"/>
              </a:rPr>
              <a:t>Clear enough for fair access and safe events.</a:t>
            </a:r>
          </a:p>
        </p:txBody>
      </p:sp>
      <p:sp>
        <p:nvSpPr>
          <p:cNvPr id="13" name="Oval 12"/>
          <p:cNvSpPr/>
          <p:nvPr/>
        </p:nvSpPr>
        <p:spPr>
          <a:xfrm>
            <a:off x="5806440" y="4507992"/>
            <a:ext cx="164592" cy="164592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9048" y="4462272"/>
            <a:ext cx="4690872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430" b="0">
                <a:solidFill>
                  <a:srgbClr val="D2D8DC"/>
                </a:solidFill>
                <a:latin typeface="Aptos"/>
              </a:rPr>
              <a:t>Flexible enough for study, food, conversation, and student life.</a:t>
            </a:r>
          </a:p>
        </p:txBody>
      </p:sp>
      <p:sp>
        <p:nvSpPr>
          <p:cNvPr id="15" name="Oval 14"/>
          <p:cNvSpPr/>
          <p:nvPr/>
        </p:nvSpPr>
        <p:spPr>
          <a:xfrm>
            <a:off x="5806440" y="5010912"/>
            <a:ext cx="164592" cy="164592"/>
          </a:xfrm>
          <a:prstGeom prst="ellipse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99048" y="4965192"/>
            <a:ext cx="4690872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430" b="0">
                <a:solidFill>
                  <a:srgbClr val="D2D8DC"/>
                </a:solidFill>
                <a:latin typeface="Aptos"/>
              </a:rPr>
              <a:t>Sustainable because upkeep is shared and visible.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gp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29768"/>
            <a:ext cx="1572768" cy="15819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874519"/>
            <a:ext cx="5852160" cy="6583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3300" b="1">
                <a:solidFill>
                  <a:srgbClr val="FFFFFF"/>
                </a:solidFill>
                <a:latin typeface="Aptos Display"/>
              </a:rPr>
              <a:t>Questions and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697480"/>
            <a:ext cx="5577840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800" b="0">
                <a:solidFill>
                  <a:srgbClr val="D2D8DC"/>
                </a:solidFill>
                <a:latin typeface="Aptos"/>
              </a:rPr>
              <a:t>What needs to be clearer before the lounge opens to graduate students?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051560"/>
            <a:ext cx="416052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37960" y="1051560"/>
            <a:ext cx="73152" cy="932688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0" y="1216151"/>
            <a:ext cx="3749039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00" b="1">
                <a:solidFill>
                  <a:srgbClr val="1C2127"/>
                </a:solidFill>
                <a:latin typeface="Aptos"/>
              </a:rPr>
              <a:t>Confirm hours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618488"/>
            <a:ext cx="3749039" cy="2468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180" b="0">
                <a:solidFill>
                  <a:srgbClr val="5B636C"/>
                </a:solidFill>
                <a:latin typeface="Aptos"/>
              </a:rPr>
              <a:t>Regular, finals, summer, and holiday access need final decisions.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2286000"/>
            <a:ext cx="416052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37960" y="2286000"/>
            <a:ext cx="73152" cy="932688"/>
          </a:xfrm>
          <a:prstGeom prst="rect">
            <a:avLst/>
          </a:prstGeom>
          <a:solidFill>
            <a:srgbClr val="00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0" y="2450592"/>
            <a:ext cx="3749039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00" b="1">
                <a:solidFill>
                  <a:srgbClr val="1C2127"/>
                </a:solidFill>
                <a:latin typeface="Aptos"/>
              </a:rPr>
              <a:t>Confirm owner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852928"/>
            <a:ext cx="3749039" cy="2468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180" b="0">
                <a:solidFill>
                  <a:srgbClr val="5B636C"/>
                </a:solidFill>
                <a:latin typeface="Aptos"/>
              </a:rPr>
              <a:t>Name the administrator for approvals, warnings, and restoration requests.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3520440"/>
            <a:ext cx="416052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37960" y="3520440"/>
            <a:ext cx="73152" cy="932688"/>
          </a:xfrm>
          <a:prstGeom prst="rect">
            <a:avLst/>
          </a:prstGeom>
          <a:solidFill>
            <a:srgbClr val="588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66560" y="3685032"/>
            <a:ext cx="3749039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00" b="1">
                <a:solidFill>
                  <a:srgbClr val="1C2127"/>
                </a:solidFill>
                <a:latin typeface="Aptos"/>
              </a:rPr>
              <a:t>Confirm upkeep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087368"/>
            <a:ext cx="3749039" cy="2468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180" b="0">
                <a:solidFill>
                  <a:srgbClr val="5B636C"/>
                </a:solidFill>
                <a:latin typeface="Aptos"/>
              </a:rPr>
              <a:t>Decide who checks fridge, supplies, QR requests, and recurring cleaning gaps.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956048"/>
            <a:ext cx="201168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200" b="1">
                <a:solidFill>
                  <a:srgbClr val="FFCD00"/>
                </a:solidFill>
                <a:latin typeface="Aptos"/>
              </a:rPr>
              <a:t>AI Use Disclosure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321808"/>
            <a:ext cx="9921240" cy="51206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140" b="0">
                <a:solidFill>
                  <a:srgbClr val="D2D8DC"/>
                </a:solidFill>
                <a:latin typeface="Aptos"/>
              </a:rPr>
              <a:t>Prepared with GPT-5 via the Claudia agent system for summarizing, structuring, and formatting this GPSA briefing deck. Edgar should review all policy language, operational details, and final decisions before sharing.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6053328"/>
            <a:ext cx="1001268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819" b="0">
                <a:solidFill>
                  <a:srgbClr val="A0A6AC"/>
                </a:solidFill>
                <a:latin typeface="Aptos"/>
              </a:rPr>
              <a:t>Internal provenance: Generated for Edgar Agunias | Date: 2026-05-04 | Sources: Grad Lounge Committee Meeting #1.md, selected lounge photos IMG_3581 and IMG_3585, Standard PowerPoint Template | Agent: Hephaestus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1132</Words>
  <Application>Microsoft Macintosh PowerPoint</Application>
  <PresentationFormat>Widescreen</PresentationFormat>
  <Paragraphs>112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 Display</vt:lpstr>
      <vt:lpstr>Arial</vt:lpstr>
      <vt:lpstr>Aptos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Agunias, Edgar</cp:lastModifiedBy>
  <cp:revision>1</cp:revision>
  <dcterms:modified xsi:type="dcterms:W3CDTF">2026-05-04T02:13:29Z</dcterms:modified>
</cp:coreProperties>
</file>