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embeddedFontLst>
    <p:embeddedFont>
      <p:font typeface="Open Sans Light"/>
      <p:regular r:id="rId17"/>
      <p:bold r:id="rId18"/>
      <p:italic r:id="rId19"/>
      <p:boldItalic r:id="rId20"/>
    </p:embeddedFont>
    <p:embeddedFont>
      <p:font typeface="Open Sans"/>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OpenSansLight-boldItalic.fntdata"/><Relationship Id="rId11" Type="http://schemas.openxmlformats.org/officeDocument/2006/relationships/slide" Target="slides/slide7.xml"/><Relationship Id="rId22" Type="http://schemas.openxmlformats.org/officeDocument/2006/relationships/font" Target="fonts/OpenSans-bold.fntdata"/><Relationship Id="rId10" Type="http://schemas.openxmlformats.org/officeDocument/2006/relationships/slide" Target="slides/slide6.xml"/><Relationship Id="rId21" Type="http://schemas.openxmlformats.org/officeDocument/2006/relationships/font" Target="fonts/OpenSans-regular.fntdata"/><Relationship Id="rId13" Type="http://schemas.openxmlformats.org/officeDocument/2006/relationships/slide" Target="slides/slide9.xml"/><Relationship Id="rId24" Type="http://schemas.openxmlformats.org/officeDocument/2006/relationships/font" Target="fonts/OpenSans-boldItalic.fntdata"/><Relationship Id="rId12" Type="http://schemas.openxmlformats.org/officeDocument/2006/relationships/slide" Target="slides/slide8.xml"/><Relationship Id="rId23" Type="http://schemas.openxmlformats.org/officeDocument/2006/relationships/font" Target="fonts/OpenSans-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OpenSansLight-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OpenSansLight-italic.fntdata"/><Relationship Id="rId6" Type="http://schemas.openxmlformats.org/officeDocument/2006/relationships/slide" Target="slides/slide2.xml"/><Relationship Id="rId18" Type="http://schemas.openxmlformats.org/officeDocument/2006/relationships/font" Target="fonts/OpenSansLight-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Corruption is a human interaction, it is not purely a economic/market failure. </a:t>
            </a:r>
            <a:endParaRPr/>
          </a:p>
        </p:txBody>
      </p:sp>
      <p:sp>
        <p:nvSpPr>
          <p:cNvPr id="145" name="Google Shape;14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1" lang="en-US" sz="1800" u="none" strike="noStrike">
                <a:solidFill>
                  <a:srgbClr val="000000"/>
                </a:solidFill>
                <a:latin typeface="Times New Roman"/>
                <a:ea typeface="Times New Roman"/>
                <a:cs typeface="Times New Roman"/>
                <a:sym typeface="Times New Roman"/>
              </a:rPr>
              <a:t>Human capital and corruption relationship shows why some countries continue to remain poor and have high levels of corruption, explaining the earlier general effects through brain drain and compounding impact of corruption.</a:t>
            </a:r>
            <a:endParaRPr b="0"/>
          </a:p>
          <a:p>
            <a:pPr indent="0" lvl="0" marL="0" rtl="0" algn="l">
              <a:lnSpc>
                <a:spcPct val="100000"/>
              </a:lnSpc>
              <a:spcBef>
                <a:spcPts val="0"/>
              </a:spcBef>
              <a:spcAft>
                <a:spcPts val="0"/>
              </a:spcAft>
              <a:buSzPts val="1400"/>
              <a:buNone/>
            </a:pPr>
            <a:br>
              <a:rPr b="0" lang="en-US"/>
            </a:br>
            <a:endParaRPr b="0"/>
          </a:p>
        </p:txBody>
      </p:sp>
      <p:sp>
        <p:nvSpPr>
          <p:cNvPr id="164" name="Google Shape;16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sz="1800" u="none" strike="noStrike">
                <a:solidFill>
                  <a:srgbClr val="000000"/>
                </a:solidFill>
                <a:latin typeface="Times New Roman"/>
                <a:ea typeface="Times New Roman"/>
                <a:cs typeface="Times New Roman"/>
                <a:sym typeface="Times New Roman"/>
              </a:rPr>
              <a:t>It is a network under which the adaptability and extensiveness of the network causes a multi equilibrium point. </a:t>
            </a:r>
            <a:endParaRPr b="0" i="0"/>
          </a:p>
          <a:p>
            <a:pPr indent="0" lvl="0" marL="0" rtl="0" algn="l">
              <a:lnSpc>
                <a:spcPct val="100000"/>
              </a:lnSpc>
              <a:spcBef>
                <a:spcPts val="0"/>
              </a:spcBef>
              <a:spcAft>
                <a:spcPts val="0"/>
              </a:spcAft>
              <a:buSzPts val="1400"/>
              <a:buNone/>
            </a:pPr>
            <a:br>
              <a:rPr b="0" lang="en-US"/>
            </a:br>
            <a:endParaRPr b="0"/>
          </a:p>
        </p:txBody>
      </p:sp>
      <p:sp>
        <p:nvSpPr>
          <p:cNvPr id="187" name="Google Shape;18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br>
              <a:rPr b="0" lang="en-US"/>
            </a:br>
            <a:endParaRPr b="0"/>
          </a:p>
        </p:txBody>
      </p:sp>
      <p:sp>
        <p:nvSpPr>
          <p:cNvPr id="198" name="Google Shape;19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br>
              <a:rPr b="0" lang="en-US"/>
            </a:br>
            <a:endParaRPr b="0"/>
          </a:p>
        </p:txBody>
      </p:sp>
      <p:sp>
        <p:nvSpPr>
          <p:cNvPr id="209" name="Google Shape;20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jpg"/><Relationship Id="rId5" Type="http://schemas.openxmlformats.org/officeDocument/2006/relationships/image" Target="../media/image5.png"/><Relationship Id="rId6"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p:nvPr/>
        </p:nvSpPr>
        <p:spPr>
          <a:xfrm>
            <a:off x="0" y="-274320"/>
            <a:ext cx="12192000" cy="7190509"/>
          </a:xfrm>
          <a:prstGeom prst="rect">
            <a:avLst/>
          </a:prstGeom>
          <a:solidFill>
            <a:srgbClr val="0C0C0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400"/>
              <a:buFont typeface="Arial"/>
              <a:buNone/>
            </a:pPr>
            <a:r>
              <a:t/>
            </a:r>
            <a:endParaRPr b="0" i="0" sz="5400" u="none" cap="none" strike="noStrike">
              <a:solidFill>
                <a:schemeClr val="lt1"/>
              </a:solidFill>
              <a:latin typeface="Open Sans"/>
              <a:ea typeface="Open Sans"/>
              <a:cs typeface="Open Sans"/>
              <a:sym typeface="Open Sans"/>
            </a:endParaRPr>
          </a:p>
        </p:txBody>
      </p:sp>
      <p:sp>
        <p:nvSpPr>
          <p:cNvPr id="89" name="Google Shape;89;p13"/>
          <p:cNvSpPr txBox="1"/>
          <p:nvPr/>
        </p:nvSpPr>
        <p:spPr>
          <a:xfrm>
            <a:off x="2976221" y="2071346"/>
            <a:ext cx="86685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lang="en-US" sz="4000">
                <a:solidFill>
                  <a:schemeClr val="lt1"/>
                </a:solidFill>
                <a:latin typeface="Open Sans"/>
                <a:ea typeface="Open Sans"/>
                <a:cs typeface="Open Sans"/>
                <a:sym typeface="Open Sans"/>
              </a:rPr>
              <a:t>Title Page</a:t>
            </a:r>
            <a:endParaRPr b="0" i="0" sz="1400" u="none" cap="none" strike="noStrike">
              <a:solidFill>
                <a:srgbClr val="000000"/>
              </a:solidFill>
              <a:latin typeface="Arial"/>
              <a:ea typeface="Arial"/>
              <a:cs typeface="Arial"/>
              <a:sym typeface="Arial"/>
            </a:endParaRPr>
          </a:p>
        </p:txBody>
      </p:sp>
      <p:sp>
        <p:nvSpPr>
          <p:cNvPr id="90" name="Google Shape;90;p13"/>
          <p:cNvSpPr txBox="1"/>
          <p:nvPr/>
        </p:nvSpPr>
        <p:spPr>
          <a:xfrm>
            <a:off x="2976221" y="4825239"/>
            <a:ext cx="866839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Open Sans"/>
                <a:ea typeface="Open Sans"/>
                <a:cs typeface="Open Sans"/>
                <a:sym typeface="Open Sans"/>
              </a:rPr>
              <a:t>Written and presented by: Edgar Agunias</a:t>
            </a:r>
            <a:endParaRPr b="0" i="0" sz="1400" u="none" cap="none" strike="noStrike">
              <a:solidFill>
                <a:srgbClr val="000000"/>
              </a:solidFill>
              <a:latin typeface="Arial"/>
              <a:ea typeface="Arial"/>
              <a:cs typeface="Arial"/>
              <a:sym typeface="Arial"/>
            </a:endParaRPr>
          </a:p>
        </p:txBody>
      </p:sp>
      <p:sp>
        <p:nvSpPr>
          <p:cNvPr id="91" name="Google Shape;91;p13"/>
          <p:cNvSpPr txBox="1"/>
          <p:nvPr/>
        </p:nvSpPr>
        <p:spPr>
          <a:xfrm>
            <a:off x="2976225" y="429200"/>
            <a:ext cx="29373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lang="en-US" sz="1600">
                <a:solidFill>
                  <a:schemeClr val="lt1"/>
                </a:solidFill>
                <a:latin typeface="Open Sans"/>
                <a:ea typeface="Open Sans"/>
                <a:cs typeface="Open Sans"/>
                <a:sym typeface="Open Sans"/>
              </a:rPr>
              <a:t>University of California</a:t>
            </a:r>
            <a:br>
              <a:rPr lang="en-US" sz="1600">
                <a:solidFill>
                  <a:schemeClr val="lt1"/>
                </a:solidFill>
                <a:latin typeface="Open Sans"/>
                <a:ea typeface="Open Sans"/>
                <a:cs typeface="Open Sans"/>
                <a:sym typeface="Open Sans"/>
              </a:rPr>
            </a:br>
            <a:r>
              <a:rPr lang="en-US" sz="1600">
                <a:solidFill>
                  <a:schemeClr val="lt1"/>
                </a:solidFill>
                <a:latin typeface="Open Sans"/>
                <a:ea typeface="Open Sans"/>
                <a:cs typeface="Open Sans"/>
                <a:sym typeface="Open Sans"/>
              </a:rPr>
              <a:t>San Diego: School of Global Policy and Strategy</a:t>
            </a:r>
            <a:endParaRPr b="0" i="0" sz="1400" u="none" cap="none" strike="noStrike">
              <a:solidFill>
                <a:srgbClr val="000000"/>
              </a:solidFill>
              <a:latin typeface="Arial"/>
              <a:ea typeface="Arial"/>
              <a:cs typeface="Arial"/>
              <a:sym typeface="Arial"/>
            </a:endParaRPr>
          </a:p>
        </p:txBody>
      </p:sp>
      <p:cxnSp>
        <p:nvCxnSpPr>
          <p:cNvPr id="92" name="Google Shape;92;p13"/>
          <p:cNvCxnSpPr/>
          <p:nvPr/>
        </p:nvCxnSpPr>
        <p:spPr>
          <a:xfrm>
            <a:off x="3049253" y="1519936"/>
            <a:ext cx="8595360" cy="0"/>
          </a:xfrm>
          <a:prstGeom prst="straightConnector1">
            <a:avLst/>
          </a:prstGeom>
          <a:noFill/>
          <a:ln cap="flat" cmpd="sng" w="19050">
            <a:solidFill>
              <a:schemeClr val="lt1"/>
            </a:solidFill>
            <a:prstDash val="solid"/>
            <a:miter lim="800000"/>
            <a:headEnd len="sm" w="sm" type="none"/>
            <a:tailEnd len="sm" w="sm" type="none"/>
          </a:ln>
        </p:spPr>
      </p:cxnSp>
      <p:sp>
        <p:nvSpPr>
          <p:cNvPr id="93" name="Google Shape;93;p13"/>
          <p:cNvSpPr txBox="1"/>
          <p:nvPr/>
        </p:nvSpPr>
        <p:spPr>
          <a:xfrm>
            <a:off x="8948518" y="429211"/>
            <a:ext cx="2696100" cy="338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rPr lang="en-US" sz="1600">
                <a:solidFill>
                  <a:schemeClr val="lt1"/>
                </a:solidFill>
                <a:latin typeface="Open Sans"/>
                <a:ea typeface="Open Sans"/>
                <a:cs typeface="Open Sans"/>
                <a:sym typeface="Open Sans"/>
              </a:rPr>
              <a:t>Date</a:t>
            </a:r>
            <a:endParaRPr b="0" i="0" sz="1400" u="none" cap="none" strike="noStrike">
              <a:solidFill>
                <a:srgbClr val="000000"/>
              </a:solidFill>
              <a:latin typeface="Arial"/>
              <a:ea typeface="Arial"/>
              <a:cs typeface="Arial"/>
              <a:sym typeface="Arial"/>
            </a:endParaRPr>
          </a:p>
        </p:txBody>
      </p:sp>
      <p:cxnSp>
        <p:nvCxnSpPr>
          <p:cNvPr id="94" name="Google Shape;94;p13"/>
          <p:cNvCxnSpPr/>
          <p:nvPr/>
        </p:nvCxnSpPr>
        <p:spPr>
          <a:xfrm>
            <a:off x="3049253" y="1871997"/>
            <a:ext cx="8595360" cy="0"/>
          </a:xfrm>
          <a:prstGeom prst="straightConnector1">
            <a:avLst/>
          </a:prstGeom>
          <a:noFill/>
          <a:ln cap="flat" cmpd="sng" w="19050">
            <a:solidFill>
              <a:schemeClr val="lt1"/>
            </a:solidFill>
            <a:prstDash val="solid"/>
            <a:miter lim="800000"/>
            <a:headEnd len="sm" w="sm" type="none"/>
            <a:tailEnd len="sm" w="sm" type="none"/>
          </a:ln>
        </p:spPr>
      </p:cxnSp>
      <p:sp>
        <p:nvSpPr>
          <p:cNvPr id="95" name="Google Shape;95;p13"/>
          <p:cNvSpPr txBox="1"/>
          <p:nvPr/>
        </p:nvSpPr>
        <p:spPr>
          <a:xfrm>
            <a:off x="2976221" y="1519936"/>
            <a:ext cx="763081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lang="en-US" sz="1600">
                <a:solidFill>
                  <a:schemeClr val="lt1"/>
                </a:solidFill>
                <a:latin typeface="Open Sans"/>
                <a:ea typeface="Open Sans"/>
                <a:cs typeface="Open Sans"/>
                <a:sym typeface="Open Sans"/>
              </a:rPr>
              <a:t>Class</a:t>
            </a:r>
            <a:endParaRPr b="0" i="0" sz="1600" u="none" cap="none" strike="noStrike">
              <a:solidFill>
                <a:schemeClr val="dk1"/>
              </a:solidFill>
              <a:latin typeface="Calibri"/>
              <a:ea typeface="Calibri"/>
              <a:cs typeface="Calibri"/>
              <a:sym typeface="Calibri"/>
            </a:endParaRPr>
          </a:p>
        </p:txBody>
      </p:sp>
      <p:pic>
        <p:nvPicPr>
          <p:cNvPr id="96" name="Google Shape;96;p13"/>
          <p:cNvPicPr preferRelativeResize="0"/>
          <p:nvPr/>
        </p:nvPicPr>
        <p:blipFill>
          <a:blip r:embed="rId3">
            <a:alphaModFix/>
          </a:blip>
          <a:stretch>
            <a:fillRect/>
          </a:stretch>
        </p:blipFill>
        <p:spPr>
          <a:xfrm>
            <a:off x="494700" y="429200"/>
            <a:ext cx="1966101" cy="19775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4"/>
          <p:cNvSpPr/>
          <p:nvPr/>
        </p:nvSpPr>
        <p:spPr>
          <a:xfrm>
            <a:off x="0" y="-274320"/>
            <a:ext cx="12192000" cy="7190509"/>
          </a:xfrm>
          <a:prstGeom prst="rect">
            <a:avLst/>
          </a:prstGeom>
          <a:solidFill>
            <a:srgbClr val="0C0C0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400"/>
              <a:buFont typeface="Arial"/>
              <a:buNone/>
            </a:pPr>
            <a:r>
              <a:t/>
            </a:r>
            <a:endParaRPr b="0" i="0" sz="5400" u="none" cap="none" strike="noStrike">
              <a:solidFill>
                <a:schemeClr val="lt1"/>
              </a:solidFill>
              <a:latin typeface="Open Sans"/>
              <a:ea typeface="Open Sans"/>
              <a:cs typeface="Open Sans"/>
              <a:sym typeface="Open Sans"/>
            </a:endParaRPr>
          </a:p>
        </p:txBody>
      </p:sp>
      <p:sp>
        <p:nvSpPr>
          <p:cNvPr id="102" name="Google Shape;102;p14"/>
          <p:cNvSpPr txBox="1"/>
          <p:nvPr/>
        </p:nvSpPr>
        <p:spPr>
          <a:xfrm>
            <a:off x="2976221" y="2118218"/>
            <a:ext cx="8668500" cy="3878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4800"/>
              <a:buFont typeface="Arial"/>
              <a:buNone/>
            </a:pPr>
            <a:r>
              <a:rPr b="1" lang="en-US" sz="4800">
                <a:solidFill>
                  <a:schemeClr val="lt1"/>
                </a:solidFill>
                <a:latin typeface="Open Sans"/>
                <a:ea typeface="Open Sans"/>
                <a:cs typeface="Open Sans"/>
                <a:sym typeface="Open Sans"/>
              </a:rPr>
              <a:t>Transition Page/Color</a:t>
            </a:r>
            <a:endParaRPr b="1" i="0" sz="4800" u="none" cap="none" strike="noStrike">
              <a:solidFill>
                <a:schemeClr val="lt1"/>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4800"/>
              <a:buFont typeface="Arial"/>
              <a:buNone/>
            </a:pPr>
            <a:r>
              <a:rPr b="1" lang="en-US" sz="4800">
                <a:solidFill>
                  <a:srgbClr val="F54029"/>
                </a:solidFill>
                <a:latin typeface="Open Sans"/>
                <a:ea typeface="Open Sans"/>
                <a:cs typeface="Open Sans"/>
                <a:sym typeface="Open Sans"/>
              </a:rPr>
              <a:t>Red</a:t>
            </a:r>
            <a:br>
              <a:rPr b="1" lang="en-US" sz="4800">
                <a:solidFill>
                  <a:schemeClr val="lt1"/>
                </a:solidFill>
                <a:latin typeface="Open Sans"/>
                <a:ea typeface="Open Sans"/>
                <a:cs typeface="Open Sans"/>
                <a:sym typeface="Open Sans"/>
              </a:rPr>
            </a:br>
            <a:r>
              <a:rPr b="1" lang="en-US" sz="4800">
                <a:solidFill>
                  <a:srgbClr val="E6B012"/>
                </a:solidFill>
                <a:latin typeface="Open Sans"/>
                <a:ea typeface="Open Sans"/>
                <a:cs typeface="Open Sans"/>
                <a:sym typeface="Open Sans"/>
              </a:rPr>
              <a:t>Yellow</a:t>
            </a:r>
            <a:endParaRPr b="1" sz="4800">
              <a:solidFill>
                <a:srgbClr val="E6B012"/>
              </a:solidFill>
              <a:latin typeface="Open Sans"/>
              <a:ea typeface="Open Sans"/>
              <a:cs typeface="Open Sans"/>
              <a:sym typeface="Open Sans"/>
            </a:endParaRPr>
          </a:p>
          <a:p>
            <a:pPr indent="0" lvl="0" marL="0" rtl="0" algn="l">
              <a:spcBef>
                <a:spcPts val="0"/>
              </a:spcBef>
              <a:spcAft>
                <a:spcPts val="0"/>
              </a:spcAft>
              <a:buClr>
                <a:schemeClr val="dk1"/>
              </a:buClr>
              <a:buSzPts val="5400"/>
              <a:buFont typeface="Arial"/>
              <a:buNone/>
            </a:pPr>
            <a:r>
              <a:rPr b="1" lang="en-US" sz="5400">
                <a:solidFill>
                  <a:srgbClr val="006EC7"/>
                </a:solidFill>
                <a:latin typeface="Open Sans"/>
                <a:ea typeface="Open Sans"/>
                <a:cs typeface="Open Sans"/>
                <a:sym typeface="Open Sans"/>
              </a:rPr>
              <a:t>Blue</a:t>
            </a:r>
            <a:endParaRPr b="1" sz="5400">
              <a:solidFill>
                <a:srgbClr val="006EC7"/>
              </a:solidFill>
              <a:latin typeface="Open Sans"/>
              <a:ea typeface="Open Sans"/>
              <a:cs typeface="Open Sans"/>
              <a:sym typeface="Open Sans"/>
            </a:endParaRPr>
          </a:p>
          <a:p>
            <a:pPr indent="0" lvl="0" marL="0" rtl="0" algn="l">
              <a:spcBef>
                <a:spcPts val="0"/>
              </a:spcBef>
              <a:spcAft>
                <a:spcPts val="0"/>
              </a:spcAft>
              <a:buClr>
                <a:schemeClr val="dk1"/>
              </a:buClr>
              <a:buSzPts val="4800"/>
              <a:buFont typeface="Arial"/>
              <a:buNone/>
            </a:pPr>
            <a:r>
              <a:rPr b="1" lang="en-US" sz="4800">
                <a:solidFill>
                  <a:srgbClr val="4FA800"/>
                </a:solidFill>
                <a:latin typeface="Open Sans"/>
                <a:ea typeface="Open Sans"/>
                <a:cs typeface="Open Sans"/>
                <a:sym typeface="Open Sans"/>
              </a:rPr>
              <a:t>Green</a:t>
            </a:r>
            <a:endParaRPr b="1" sz="4800">
              <a:solidFill>
                <a:schemeClr val="lt1"/>
              </a:solidFill>
              <a:latin typeface="Open Sans"/>
              <a:ea typeface="Open Sans"/>
              <a:cs typeface="Open Sans"/>
              <a:sym typeface="Open Sans"/>
            </a:endParaRPr>
          </a:p>
        </p:txBody>
      </p:sp>
      <p:sp>
        <p:nvSpPr>
          <p:cNvPr id="103" name="Google Shape;103;p14"/>
          <p:cNvSpPr txBox="1"/>
          <p:nvPr/>
        </p:nvSpPr>
        <p:spPr>
          <a:xfrm>
            <a:off x="2976221" y="429211"/>
            <a:ext cx="2792700" cy="831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000000"/>
              </a:buClr>
              <a:buSzPts val="1600"/>
              <a:buFont typeface="Arial"/>
              <a:buNone/>
            </a:pPr>
            <a:r>
              <a:rPr lang="en-US" sz="1600">
                <a:solidFill>
                  <a:schemeClr val="lt1"/>
                </a:solidFill>
                <a:latin typeface="Open Sans"/>
                <a:ea typeface="Open Sans"/>
                <a:cs typeface="Open Sans"/>
                <a:sym typeface="Open Sans"/>
              </a:rPr>
              <a:t>University of California</a:t>
            </a:r>
            <a:br>
              <a:rPr lang="en-US" sz="1600">
                <a:solidFill>
                  <a:schemeClr val="lt1"/>
                </a:solidFill>
                <a:latin typeface="Open Sans"/>
                <a:ea typeface="Open Sans"/>
                <a:cs typeface="Open Sans"/>
                <a:sym typeface="Open Sans"/>
              </a:rPr>
            </a:br>
            <a:r>
              <a:rPr lang="en-US" sz="1600">
                <a:solidFill>
                  <a:schemeClr val="lt1"/>
                </a:solidFill>
                <a:latin typeface="Open Sans"/>
                <a:ea typeface="Open Sans"/>
                <a:cs typeface="Open Sans"/>
                <a:sym typeface="Open Sans"/>
              </a:rPr>
              <a:t>San Diego: School of Global Policy and Strategy</a:t>
            </a:r>
            <a:endParaRPr sz="1600">
              <a:solidFill>
                <a:schemeClr val="lt1"/>
              </a:solidFill>
              <a:latin typeface="Open Sans"/>
              <a:ea typeface="Open Sans"/>
              <a:cs typeface="Open Sans"/>
              <a:sym typeface="Open Sans"/>
            </a:endParaRPr>
          </a:p>
        </p:txBody>
      </p:sp>
      <p:cxnSp>
        <p:nvCxnSpPr>
          <p:cNvPr id="104" name="Google Shape;104;p14"/>
          <p:cNvCxnSpPr/>
          <p:nvPr/>
        </p:nvCxnSpPr>
        <p:spPr>
          <a:xfrm>
            <a:off x="3049253" y="1519936"/>
            <a:ext cx="8595360" cy="0"/>
          </a:xfrm>
          <a:prstGeom prst="straightConnector1">
            <a:avLst/>
          </a:prstGeom>
          <a:noFill/>
          <a:ln cap="flat" cmpd="sng" w="19050">
            <a:solidFill>
              <a:schemeClr val="lt1"/>
            </a:solidFill>
            <a:prstDash val="solid"/>
            <a:miter lim="800000"/>
            <a:headEnd len="sm" w="sm" type="none"/>
            <a:tailEnd len="sm" w="sm" type="none"/>
          </a:ln>
        </p:spPr>
      </p:cxnSp>
      <p:sp>
        <p:nvSpPr>
          <p:cNvPr id="105" name="Google Shape;105;p14"/>
          <p:cNvSpPr txBox="1"/>
          <p:nvPr/>
        </p:nvSpPr>
        <p:spPr>
          <a:xfrm>
            <a:off x="8948526" y="429211"/>
            <a:ext cx="2696100" cy="338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rPr lang="en-US" sz="1600">
                <a:solidFill>
                  <a:schemeClr val="lt1"/>
                </a:solidFill>
                <a:latin typeface="Open Sans"/>
                <a:ea typeface="Open Sans"/>
                <a:cs typeface="Open Sans"/>
                <a:sym typeface="Open Sans"/>
              </a:rPr>
              <a:t>Date</a:t>
            </a:r>
            <a:endParaRPr b="0" i="0" sz="1400" u="none" cap="none" strike="noStrike">
              <a:solidFill>
                <a:srgbClr val="000000"/>
              </a:solidFill>
              <a:latin typeface="Arial"/>
              <a:ea typeface="Arial"/>
              <a:cs typeface="Arial"/>
              <a:sym typeface="Arial"/>
            </a:endParaRPr>
          </a:p>
        </p:txBody>
      </p:sp>
      <p:cxnSp>
        <p:nvCxnSpPr>
          <p:cNvPr id="106" name="Google Shape;106;p14"/>
          <p:cNvCxnSpPr/>
          <p:nvPr/>
        </p:nvCxnSpPr>
        <p:spPr>
          <a:xfrm>
            <a:off x="3049253" y="1871997"/>
            <a:ext cx="8595360" cy="0"/>
          </a:xfrm>
          <a:prstGeom prst="straightConnector1">
            <a:avLst/>
          </a:prstGeom>
          <a:noFill/>
          <a:ln cap="flat" cmpd="sng" w="19050">
            <a:solidFill>
              <a:schemeClr val="lt1"/>
            </a:solidFill>
            <a:prstDash val="solid"/>
            <a:miter lim="800000"/>
            <a:headEnd len="sm" w="sm" type="none"/>
            <a:tailEnd len="sm" w="sm" type="none"/>
          </a:ln>
        </p:spPr>
      </p:cxnSp>
      <p:sp>
        <p:nvSpPr>
          <p:cNvPr id="107" name="Google Shape;107;p14"/>
          <p:cNvSpPr txBox="1"/>
          <p:nvPr/>
        </p:nvSpPr>
        <p:spPr>
          <a:xfrm>
            <a:off x="2976221" y="1519936"/>
            <a:ext cx="763081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lang="en-US" sz="1600">
                <a:solidFill>
                  <a:schemeClr val="lt1"/>
                </a:solidFill>
                <a:latin typeface="Open Sans"/>
                <a:ea typeface="Open Sans"/>
                <a:cs typeface="Open Sans"/>
                <a:sym typeface="Open Sans"/>
              </a:rPr>
              <a:t>Title</a:t>
            </a:r>
            <a:endParaRPr b="0" i="0" sz="1600" u="none" cap="none" strike="noStrike">
              <a:solidFill>
                <a:schemeClr val="dk1"/>
              </a:solidFill>
              <a:latin typeface="Calibri"/>
              <a:ea typeface="Calibri"/>
              <a:cs typeface="Calibri"/>
              <a:sym typeface="Calibri"/>
            </a:endParaRPr>
          </a:p>
        </p:txBody>
      </p:sp>
      <p:pic>
        <p:nvPicPr>
          <p:cNvPr id="108" name="Google Shape;108;p14"/>
          <p:cNvPicPr preferRelativeResize="0"/>
          <p:nvPr/>
        </p:nvPicPr>
        <p:blipFill>
          <a:blip r:embed="rId3">
            <a:alphaModFix/>
          </a:blip>
          <a:stretch>
            <a:fillRect/>
          </a:stretch>
        </p:blipFill>
        <p:spPr>
          <a:xfrm>
            <a:off x="494700" y="429200"/>
            <a:ext cx="1966101" cy="1977576"/>
          </a:xfrm>
          <a:prstGeom prst="rect">
            <a:avLst/>
          </a:prstGeom>
          <a:noFill/>
          <a:ln>
            <a:noFill/>
          </a:ln>
        </p:spPr>
      </p:pic>
    </p:spTree>
  </p:cSld>
  <p:clrMapOvr>
    <a:masterClrMapping/>
  </p:clrMapOvr>
  <p:transition spd="med">
    <p:push/>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5"/>
          <p:cNvSpPr/>
          <p:nvPr/>
        </p:nvSpPr>
        <p:spPr>
          <a:xfrm>
            <a:off x="0" y="-191193"/>
            <a:ext cx="12192000" cy="7182197"/>
          </a:xfrm>
          <a:prstGeom prst="rect">
            <a:avLst/>
          </a:prstGeom>
          <a:solidFill>
            <a:srgbClr val="0C0C0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Open Sans"/>
              <a:ea typeface="Open Sans"/>
              <a:cs typeface="Open Sans"/>
              <a:sym typeface="Open Sans"/>
            </a:endParaRPr>
          </a:p>
        </p:txBody>
      </p:sp>
      <p:sp>
        <p:nvSpPr>
          <p:cNvPr id="114" name="Google Shape;114;p15"/>
          <p:cNvSpPr txBox="1"/>
          <p:nvPr/>
        </p:nvSpPr>
        <p:spPr>
          <a:xfrm>
            <a:off x="632296" y="931330"/>
            <a:ext cx="111219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lang="en-US" sz="4800">
                <a:solidFill>
                  <a:srgbClr val="006EC7"/>
                </a:solidFill>
                <a:latin typeface="Open Sans"/>
                <a:ea typeface="Open Sans"/>
                <a:cs typeface="Open Sans"/>
                <a:sym typeface="Open Sans"/>
              </a:rPr>
              <a:t>Quote</a:t>
            </a:r>
            <a:r>
              <a:rPr b="1" lang="en-US" sz="4800">
                <a:solidFill>
                  <a:srgbClr val="006EC7"/>
                </a:solidFill>
                <a:latin typeface="Open Sans"/>
                <a:ea typeface="Open Sans"/>
                <a:cs typeface="Open Sans"/>
                <a:sym typeface="Open Sans"/>
              </a:rPr>
              <a:t> Page</a:t>
            </a:r>
            <a:endParaRPr b="0" i="0" sz="1400" u="none" cap="none" strike="noStrike">
              <a:solidFill>
                <a:srgbClr val="000000"/>
              </a:solidFill>
              <a:latin typeface="Arial"/>
              <a:ea typeface="Arial"/>
              <a:cs typeface="Arial"/>
              <a:sym typeface="Arial"/>
            </a:endParaRPr>
          </a:p>
        </p:txBody>
      </p:sp>
      <p:cxnSp>
        <p:nvCxnSpPr>
          <p:cNvPr id="115" name="Google Shape;115;p15"/>
          <p:cNvCxnSpPr/>
          <p:nvPr/>
        </p:nvCxnSpPr>
        <p:spPr>
          <a:xfrm>
            <a:off x="705328" y="434835"/>
            <a:ext cx="10854375" cy="0"/>
          </a:xfrm>
          <a:prstGeom prst="straightConnector1">
            <a:avLst/>
          </a:prstGeom>
          <a:noFill/>
          <a:ln cap="flat" cmpd="sng" w="19050">
            <a:solidFill>
              <a:schemeClr val="lt1"/>
            </a:solidFill>
            <a:prstDash val="solid"/>
            <a:miter lim="800000"/>
            <a:headEnd len="sm" w="sm" type="none"/>
            <a:tailEnd len="sm" w="sm" type="none"/>
          </a:ln>
        </p:spPr>
      </p:cxnSp>
      <p:cxnSp>
        <p:nvCxnSpPr>
          <p:cNvPr id="116" name="Google Shape;116;p15"/>
          <p:cNvCxnSpPr/>
          <p:nvPr/>
        </p:nvCxnSpPr>
        <p:spPr>
          <a:xfrm flipH="1" rot="10800000">
            <a:off x="705328" y="773390"/>
            <a:ext cx="10854375" cy="13506"/>
          </a:xfrm>
          <a:prstGeom prst="straightConnector1">
            <a:avLst/>
          </a:prstGeom>
          <a:noFill/>
          <a:ln cap="flat" cmpd="sng" w="19050">
            <a:solidFill>
              <a:schemeClr val="lt1"/>
            </a:solidFill>
            <a:prstDash val="solid"/>
            <a:miter lim="800000"/>
            <a:headEnd len="sm" w="sm" type="none"/>
            <a:tailEnd len="sm" w="sm" type="none"/>
          </a:ln>
        </p:spPr>
      </p:cxnSp>
      <p:sp>
        <p:nvSpPr>
          <p:cNvPr id="117" name="Google Shape;117;p15"/>
          <p:cNvSpPr txBox="1"/>
          <p:nvPr/>
        </p:nvSpPr>
        <p:spPr>
          <a:xfrm>
            <a:off x="632296" y="434835"/>
            <a:ext cx="97669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lang="en-US" sz="1600">
                <a:solidFill>
                  <a:schemeClr val="lt1"/>
                </a:solidFill>
                <a:latin typeface="Open Sans"/>
                <a:ea typeface="Open Sans"/>
                <a:cs typeface="Open Sans"/>
                <a:sym typeface="Open Sans"/>
              </a:rPr>
              <a:t>Title</a:t>
            </a:r>
            <a:endParaRPr b="0" i="0" sz="1600" u="none" cap="none" strike="noStrike">
              <a:solidFill>
                <a:schemeClr val="dk1"/>
              </a:solidFill>
              <a:latin typeface="Calibri"/>
              <a:ea typeface="Calibri"/>
              <a:cs typeface="Calibri"/>
              <a:sym typeface="Calibri"/>
            </a:endParaRPr>
          </a:p>
        </p:txBody>
      </p:sp>
      <p:sp>
        <p:nvSpPr>
          <p:cNvPr id="118" name="Google Shape;118;p15"/>
          <p:cNvSpPr txBox="1"/>
          <p:nvPr/>
        </p:nvSpPr>
        <p:spPr>
          <a:xfrm>
            <a:off x="705328" y="2959130"/>
            <a:ext cx="10302403" cy="280076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lt1"/>
                </a:solidFill>
                <a:latin typeface="Calibri"/>
                <a:ea typeface="Calibri"/>
                <a:cs typeface="Calibri"/>
                <a:sym typeface="Calibri"/>
              </a:rPr>
              <a:t>"amount of effort required by police to compel compliance by an unwilling subject"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400"/>
              <a:buFont typeface="Arial"/>
              <a:buNone/>
            </a:pPr>
            <a:br>
              <a:rPr b="0" i="0" lang="en-US" sz="4400" u="none" cap="none" strike="noStrike">
                <a:solidFill>
                  <a:schemeClr val="lt1"/>
                </a:solidFill>
                <a:latin typeface="Calibri"/>
                <a:ea typeface="Calibri"/>
                <a:cs typeface="Calibri"/>
                <a:sym typeface="Calibri"/>
              </a:rPr>
            </a:br>
            <a:r>
              <a:rPr b="0" i="0" lang="en-US" sz="4400" u="none" cap="none" strike="noStrike">
                <a:solidFill>
                  <a:schemeClr val="lt1"/>
                </a:solidFill>
                <a:latin typeface="Calibri"/>
                <a:ea typeface="Calibri"/>
                <a:cs typeface="Calibri"/>
                <a:sym typeface="Calibri"/>
              </a:rPr>
              <a:t>National Institute of Justice</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6"/>
          <p:cNvSpPr/>
          <p:nvPr/>
        </p:nvSpPr>
        <p:spPr>
          <a:xfrm>
            <a:off x="0" y="-191193"/>
            <a:ext cx="12192000" cy="7182197"/>
          </a:xfrm>
          <a:prstGeom prst="rect">
            <a:avLst/>
          </a:prstGeom>
          <a:solidFill>
            <a:srgbClr val="0C0C0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Open Sans"/>
              <a:ea typeface="Open Sans"/>
              <a:cs typeface="Open Sans"/>
              <a:sym typeface="Open Sans"/>
            </a:endParaRPr>
          </a:p>
        </p:txBody>
      </p:sp>
      <p:cxnSp>
        <p:nvCxnSpPr>
          <p:cNvPr id="124" name="Google Shape;124;p16"/>
          <p:cNvCxnSpPr/>
          <p:nvPr/>
        </p:nvCxnSpPr>
        <p:spPr>
          <a:xfrm>
            <a:off x="705328" y="434835"/>
            <a:ext cx="10854375" cy="0"/>
          </a:xfrm>
          <a:prstGeom prst="straightConnector1">
            <a:avLst/>
          </a:prstGeom>
          <a:noFill/>
          <a:ln cap="flat" cmpd="sng" w="19050">
            <a:solidFill>
              <a:schemeClr val="lt1"/>
            </a:solidFill>
            <a:prstDash val="solid"/>
            <a:miter lim="800000"/>
            <a:headEnd len="sm" w="sm" type="none"/>
            <a:tailEnd len="sm" w="sm" type="none"/>
          </a:ln>
        </p:spPr>
      </p:cxnSp>
      <p:cxnSp>
        <p:nvCxnSpPr>
          <p:cNvPr id="125" name="Google Shape;125;p16"/>
          <p:cNvCxnSpPr/>
          <p:nvPr/>
        </p:nvCxnSpPr>
        <p:spPr>
          <a:xfrm flipH="1" rot="10800000">
            <a:off x="705328" y="773390"/>
            <a:ext cx="10854375" cy="13506"/>
          </a:xfrm>
          <a:prstGeom prst="straightConnector1">
            <a:avLst/>
          </a:prstGeom>
          <a:noFill/>
          <a:ln cap="flat" cmpd="sng" w="19050">
            <a:solidFill>
              <a:schemeClr val="lt1"/>
            </a:solidFill>
            <a:prstDash val="solid"/>
            <a:miter lim="800000"/>
            <a:headEnd len="sm" w="sm" type="none"/>
            <a:tailEnd len="sm" w="sm" type="none"/>
          </a:ln>
        </p:spPr>
      </p:cxnSp>
      <p:sp>
        <p:nvSpPr>
          <p:cNvPr id="126" name="Google Shape;126;p16"/>
          <p:cNvSpPr txBox="1"/>
          <p:nvPr/>
        </p:nvSpPr>
        <p:spPr>
          <a:xfrm>
            <a:off x="632296" y="434835"/>
            <a:ext cx="97669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lang="en-US" sz="1600">
                <a:solidFill>
                  <a:schemeClr val="lt1"/>
                </a:solidFill>
                <a:latin typeface="Open Sans"/>
                <a:ea typeface="Open Sans"/>
                <a:cs typeface="Open Sans"/>
                <a:sym typeface="Open Sans"/>
              </a:rPr>
              <a:t>Graph/Image Page</a:t>
            </a:r>
            <a:endParaRPr b="0" i="0" sz="1600" u="none" cap="none" strike="noStrike">
              <a:solidFill>
                <a:schemeClr val="dk1"/>
              </a:solidFill>
              <a:latin typeface="Calibri"/>
              <a:ea typeface="Calibri"/>
              <a:cs typeface="Calibri"/>
              <a:sym typeface="Calibri"/>
            </a:endParaRPr>
          </a:p>
        </p:txBody>
      </p:sp>
      <p:pic>
        <p:nvPicPr>
          <p:cNvPr descr="What's the 'Use of Force Continuum' for armed teachers?" id="127" name="Google Shape;127;p16"/>
          <p:cNvPicPr preferRelativeResize="0"/>
          <p:nvPr/>
        </p:nvPicPr>
        <p:blipFill rotWithShape="1">
          <a:blip r:embed="rId3">
            <a:alphaModFix/>
          </a:blip>
          <a:srcRect b="0" l="0" r="0" t="0"/>
          <a:stretch/>
        </p:blipFill>
        <p:spPr>
          <a:xfrm>
            <a:off x="2286000" y="1125450"/>
            <a:ext cx="7620000" cy="5019675"/>
          </a:xfrm>
          <a:prstGeom prst="rect">
            <a:avLst/>
          </a:prstGeom>
          <a:noFill/>
          <a:ln>
            <a:noFill/>
          </a:ln>
        </p:spPr>
      </p:pic>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7"/>
          <p:cNvSpPr/>
          <p:nvPr/>
        </p:nvSpPr>
        <p:spPr>
          <a:xfrm>
            <a:off x="-2814" y="0"/>
            <a:ext cx="12192000" cy="7182197"/>
          </a:xfrm>
          <a:prstGeom prst="rect">
            <a:avLst/>
          </a:prstGeom>
          <a:solidFill>
            <a:srgbClr val="0C0C0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Open Sans"/>
              <a:ea typeface="Open Sans"/>
              <a:cs typeface="Open Sans"/>
              <a:sym typeface="Open Sans"/>
            </a:endParaRPr>
          </a:p>
        </p:txBody>
      </p:sp>
      <p:sp>
        <p:nvSpPr>
          <p:cNvPr id="133" name="Google Shape;133;p17"/>
          <p:cNvSpPr txBox="1"/>
          <p:nvPr/>
        </p:nvSpPr>
        <p:spPr>
          <a:xfrm>
            <a:off x="632296" y="931330"/>
            <a:ext cx="1112190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0" lang="en-US" sz="4800" u="none" cap="none" strike="noStrike">
                <a:solidFill>
                  <a:srgbClr val="006EC7"/>
                </a:solidFill>
                <a:latin typeface="Open Sans"/>
                <a:ea typeface="Open Sans"/>
                <a:cs typeface="Open Sans"/>
                <a:sym typeface="Open Sans"/>
              </a:rPr>
              <a:t>Research Question?</a:t>
            </a:r>
            <a:endParaRPr b="0" i="0" sz="1400" u="none" cap="none" strike="noStrike">
              <a:solidFill>
                <a:srgbClr val="000000"/>
              </a:solidFill>
              <a:latin typeface="Arial"/>
              <a:ea typeface="Arial"/>
              <a:cs typeface="Arial"/>
              <a:sym typeface="Arial"/>
            </a:endParaRPr>
          </a:p>
        </p:txBody>
      </p:sp>
      <p:cxnSp>
        <p:nvCxnSpPr>
          <p:cNvPr id="134" name="Google Shape;134;p17"/>
          <p:cNvCxnSpPr/>
          <p:nvPr/>
        </p:nvCxnSpPr>
        <p:spPr>
          <a:xfrm>
            <a:off x="705328" y="434835"/>
            <a:ext cx="10854375" cy="0"/>
          </a:xfrm>
          <a:prstGeom prst="straightConnector1">
            <a:avLst/>
          </a:prstGeom>
          <a:noFill/>
          <a:ln cap="flat" cmpd="sng" w="19050">
            <a:solidFill>
              <a:schemeClr val="lt1"/>
            </a:solidFill>
            <a:prstDash val="solid"/>
            <a:miter lim="800000"/>
            <a:headEnd len="sm" w="sm" type="none"/>
            <a:tailEnd len="sm" w="sm" type="none"/>
          </a:ln>
        </p:spPr>
      </p:cxnSp>
      <p:cxnSp>
        <p:nvCxnSpPr>
          <p:cNvPr id="135" name="Google Shape;135;p17"/>
          <p:cNvCxnSpPr/>
          <p:nvPr/>
        </p:nvCxnSpPr>
        <p:spPr>
          <a:xfrm flipH="1" rot="10800000">
            <a:off x="705328" y="773390"/>
            <a:ext cx="10854375" cy="13506"/>
          </a:xfrm>
          <a:prstGeom prst="straightConnector1">
            <a:avLst/>
          </a:prstGeom>
          <a:noFill/>
          <a:ln cap="flat" cmpd="sng" w="19050">
            <a:solidFill>
              <a:schemeClr val="lt1"/>
            </a:solidFill>
            <a:prstDash val="solid"/>
            <a:miter lim="800000"/>
            <a:headEnd len="sm" w="sm" type="none"/>
            <a:tailEnd len="sm" w="sm" type="none"/>
          </a:ln>
        </p:spPr>
      </p:cxnSp>
      <p:sp>
        <p:nvSpPr>
          <p:cNvPr id="136" name="Google Shape;136;p17"/>
          <p:cNvSpPr txBox="1"/>
          <p:nvPr/>
        </p:nvSpPr>
        <p:spPr>
          <a:xfrm>
            <a:off x="632296" y="434835"/>
            <a:ext cx="97669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Open Sans"/>
                <a:ea typeface="Open Sans"/>
                <a:cs typeface="Open Sans"/>
                <a:sym typeface="Open Sans"/>
              </a:rPr>
              <a:t>The Cost of Corruption: An Economic Analysis</a:t>
            </a:r>
            <a:endParaRPr b="0" i="0" sz="1400" u="none" cap="none" strike="noStrike">
              <a:solidFill>
                <a:srgbClr val="000000"/>
              </a:solidFill>
              <a:latin typeface="Arial"/>
              <a:ea typeface="Arial"/>
              <a:cs typeface="Arial"/>
              <a:sym typeface="Arial"/>
            </a:endParaRPr>
          </a:p>
        </p:txBody>
      </p:sp>
      <p:sp>
        <p:nvSpPr>
          <p:cNvPr id="137" name="Google Shape;137;p17"/>
          <p:cNvSpPr txBox="1"/>
          <p:nvPr/>
        </p:nvSpPr>
        <p:spPr>
          <a:xfrm>
            <a:off x="632296" y="2018540"/>
            <a:ext cx="10753500" cy="156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0" lang="en-US" sz="4800" u="none" cap="none" strike="noStrike">
                <a:solidFill>
                  <a:schemeClr val="lt1"/>
                </a:solidFill>
                <a:latin typeface="Open Sans Light"/>
                <a:ea typeface="Open Sans Light"/>
                <a:cs typeface="Open Sans Light"/>
                <a:sym typeface="Open Sans Light"/>
              </a:rPr>
              <a:t>How do the real life events affect the level of force used in Law and Order?</a:t>
            </a:r>
            <a:endParaRPr b="1" i="0" sz="3200" u="none" cap="none" strike="noStrike">
              <a:solidFill>
                <a:schemeClr val="lt1"/>
              </a:solidFill>
              <a:latin typeface="Open Sans Light"/>
              <a:ea typeface="Open Sans Light"/>
              <a:cs typeface="Open Sans Light"/>
              <a:sym typeface="Open Sans Light"/>
            </a:endParaRPr>
          </a:p>
        </p:txBody>
      </p:sp>
      <p:sp>
        <p:nvSpPr>
          <p:cNvPr id="138" name="Google Shape;138;p17"/>
          <p:cNvSpPr txBox="1"/>
          <p:nvPr/>
        </p:nvSpPr>
        <p:spPr>
          <a:xfrm>
            <a:off x="632296" y="4501069"/>
            <a:ext cx="10932900" cy="6465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Open Sans"/>
                <a:ea typeface="Open Sans"/>
                <a:cs typeface="Open Sans"/>
                <a:sym typeface="Open Sans"/>
              </a:rPr>
              <a:t>Specifically, how does Rodney Kings 1992 beating change or not change narratives?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Open Sans"/>
                <a:ea typeface="Open Sans"/>
                <a:cs typeface="Open Sans"/>
                <a:sym typeface="Open Sans"/>
              </a:rPr>
              <a:t>Moreover how do factors such as SES, Age, and Sex change depictions on screen?</a:t>
            </a:r>
            <a:endParaRPr b="0" i="0" sz="1400" u="none" cap="none" strike="noStrike">
              <a:solidFill>
                <a:srgbClr val="000000"/>
              </a:solidFill>
              <a:latin typeface="Arial"/>
              <a:ea typeface="Arial"/>
              <a:cs typeface="Arial"/>
              <a:sym typeface="Arial"/>
            </a:endParaRPr>
          </a:p>
        </p:txBody>
      </p:sp>
      <p:sp>
        <p:nvSpPr>
          <p:cNvPr id="139" name="Google Shape;139;p17"/>
          <p:cNvSpPr txBox="1"/>
          <p:nvPr/>
        </p:nvSpPr>
        <p:spPr>
          <a:xfrm>
            <a:off x="632296" y="4159780"/>
            <a:ext cx="1085437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6EC7"/>
                </a:solidFill>
                <a:latin typeface="Open Sans"/>
                <a:ea typeface="Open Sans"/>
                <a:cs typeface="Open Sans"/>
                <a:sym typeface="Open Sans"/>
              </a:rPr>
              <a:t>Sub Questions:</a:t>
            </a:r>
            <a:endParaRPr b="0" i="0" sz="1600" u="none" cap="none" strike="noStrike">
              <a:solidFill>
                <a:srgbClr val="006EC7"/>
              </a:solidFill>
              <a:latin typeface="Calibri"/>
              <a:ea typeface="Calibri"/>
              <a:cs typeface="Calibri"/>
              <a:sym typeface="Calibri"/>
            </a:endParaRPr>
          </a:p>
        </p:txBody>
      </p:sp>
      <p:cxnSp>
        <p:nvCxnSpPr>
          <p:cNvPr id="140" name="Google Shape;140;p17"/>
          <p:cNvCxnSpPr/>
          <p:nvPr/>
        </p:nvCxnSpPr>
        <p:spPr>
          <a:xfrm>
            <a:off x="710955" y="4146273"/>
            <a:ext cx="10854375" cy="0"/>
          </a:xfrm>
          <a:prstGeom prst="straightConnector1">
            <a:avLst/>
          </a:prstGeom>
          <a:noFill/>
          <a:ln cap="flat" cmpd="sng" w="19050">
            <a:solidFill>
              <a:schemeClr val="lt1"/>
            </a:solidFill>
            <a:prstDash val="solid"/>
            <a:miter lim="800000"/>
            <a:headEnd len="sm" w="sm" type="none"/>
            <a:tailEnd len="sm" w="sm" type="none"/>
          </a:ln>
        </p:spPr>
      </p:cxnSp>
      <p:cxnSp>
        <p:nvCxnSpPr>
          <p:cNvPr id="141" name="Google Shape;141;p17"/>
          <p:cNvCxnSpPr/>
          <p:nvPr/>
        </p:nvCxnSpPr>
        <p:spPr>
          <a:xfrm flipH="1" rot="10800000">
            <a:off x="710955" y="4484828"/>
            <a:ext cx="10854375" cy="13506"/>
          </a:xfrm>
          <a:prstGeom prst="straightConnector1">
            <a:avLst/>
          </a:prstGeom>
          <a:noFill/>
          <a:ln cap="flat" cmpd="sng" w="19050">
            <a:solidFill>
              <a:schemeClr val="lt1"/>
            </a:solidFill>
            <a:prstDash val="solid"/>
            <a:miter lim="800000"/>
            <a:headEnd len="sm" w="sm" type="none"/>
            <a:tailEnd len="sm" w="sm" type="none"/>
          </a:ln>
        </p:spPr>
      </p:cxn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8"/>
          <p:cNvSpPr/>
          <p:nvPr/>
        </p:nvSpPr>
        <p:spPr>
          <a:xfrm>
            <a:off x="0" y="-191193"/>
            <a:ext cx="12192000" cy="7182197"/>
          </a:xfrm>
          <a:prstGeom prst="rect">
            <a:avLst/>
          </a:prstGeom>
          <a:solidFill>
            <a:srgbClr val="0C0C0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Open Sans"/>
              <a:ea typeface="Open Sans"/>
              <a:cs typeface="Open Sans"/>
              <a:sym typeface="Open Sans"/>
            </a:endParaRPr>
          </a:p>
        </p:txBody>
      </p:sp>
      <p:sp>
        <p:nvSpPr>
          <p:cNvPr id="148" name="Google Shape;148;p18"/>
          <p:cNvSpPr txBox="1"/>
          <p:nvPr/>
        </p:nvSpPr>
        <p:spPr>
          <a:xfrm>
            <a:off x="632297" y="992564"/>
            <a:ext cx="1112190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0" lang="en-US" sz="4800" u="none" cap="none" strike="noStrike">
                <a:solidFill>
                  <a:srgbClr val="E6B012"/>
                </a:solidFill>
                <a:latin typeface="Open Sans"/>
                <a:ea typeface="Open Sans"/>
                <a:cs typeface="Open Sans"/>
                <a:sym typeface="Open Sans"/>
              </a:rPr>
              <a:t>Frameworks:</a:t>
            </a:r>
            <a:endParaRPr b="0" i="0" sz="1400" u="none" cap="none" strike="noStrike">
              <a:solidFill>
                <a:srgbClr val="000000"/>
              </a:solidFill>
              <a:latin typeface="Arial"/>
              <a:ea typeface="Arial"/>
              <a:cs typeface="Arial"/>
              <a:sym typeface="Arial"/>
            </a:endParaRPr>
          </a:p>
        </p:txBody>
      </p:sp>
      <p:cxnSp>
        <p:nvCxnSpPr>
          <p:cNvPr id="149" name="Google Shape;149;p18"/>
          <p:cNvCxnSpPr/>
          <p:nvPr/>
        </p:nvCxnSpPr>
        <p:spPr>
          <a:xfrm>
            <a:off x="705328" y="434835"/>
            <a:ext cx="10854375" cy="0"/>
          </a:xfrm>
          <a:prstGeom prst="straightConnector1">
            <a:avLst/>
          </a:prstGeom>
          <a:noFill/>
          <a:ln cap="flat" cmpd="sng" w="19050">
            <a:solidFill>
              <a:schemeClr val="lt1"/>
            </a:solidFill>
            <a:prstDash val="solid"/>
            <a:miter lim="800000"/>
            <a:headEnd len="sm" w="sm" type="none"/>
            <a:tailEnd len="sm" w="sm" type="none"/>
          </a:ln>
        </p:spPr>
      </p:cxnSp>
      <p:cxnSp>
        <p:nvCxnSpPr>
          <p:cNvPr id="150" name="Google Shape;150;p18"/>
          <p:cNvCxnSpPr/>
          <p:nvPr/>
        </p:nvCxnSpPr>
        <p:spPr>
          <a:xfrm flipH="1" rot="10800000">
            <a:off x="705328" y="773390"/>
            <a:ext cx="10854375" cy="13506"/>
          </a:xfrm>
          <a:prstGeom prst="straightConnector1">
            <a:avLst/>
          </a:prstGeom>
          <a:noFill/>
          <a:ln cap="flat" cmpd="sng" w="19050">
            <a:solidFill>
              <a:schemeClr val="lt1"/>
            </a:solidFill>
            <a:prstDash val="solid"/>
            <a:miter lim="800000"/>
            <a:headEnd len="sm" w="sm" type="none"/>
            <a:tailEnd len="sm" w="sm" type="none"/>
          </a:ln>
        </p:spPr>
      </p:cxnSp>
      <p:sp>
        <p:nvSpPr>
          <p:cNvPr id="151" name="Google Shape;151;p18"/>
          <p:cNvSpPr txBox="1"/>
          <p:nvPr/>
        </p:nvSpPr>
        <p:spPr>
          <a:xfrm>
            <a:off x="632297" y="434835"/>
            <a:ext cx="546370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Open Sans"/>
                <a:ea typeface="Open Sans"/>
                <a:cs typeface="Open Sans"/>
                <a:sym typeface="Open Sans"/>
              </a:rPr>
              <a:t>Scripted Justice</a:t>
            </a:r>
            <a:endParaRPr b="0" i="0" sz="1400" u="none" cap="none" strike="noStrike">
              <a:solidFill>
                <a:srgbClr val="000000"/>
              </a:solidFill>
              <a:latin typeface="Arial"/>
              <a:ea typeface="Arial"/>
              <a:cs typeface="Arial"/>
              <a:sym typeface="Arial"/>
            </a:endParaRPr>
          </a:p>
        </p:txBody>
      </p:sp>
      <p:sp>
        <p:nvSpPr>
          <p:cNvPr id="152" name="Google Shape;152;p18"/>
          <p:cNvSpPr txBox="1"/>
          <p:nvPr/>
        </p:nvSpPr>
        <p:spPr>
          <a:xfrm>
            <a:off x="1702397" y="2478655"/>
            <a:ext cx="111219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Open Sans"/>
                <a:ea typeface="Open Sans"/>
                <a:cs typeface="Open Sans"/>
                <a:sym typeface="Open Sans"/>
              </a:rPr>
              <a:t>A Theory of Scandal: Victorians, Homosexuality, and the Fall of Oscar Wilde (Ari Adut, 2005)</a:t>
            </a:r>
            <a:endParaRPr b="0" i="0" sz="1800" u="none" cap="none" strike="noStrike">
              <a:solidFill>
                <a:schemeClr val="dk1"/>
              </a:solidFill>
              <a:latin typeface="Calibri"/>
              <a:ea typeface="Calibri"/>
              <a:cs typeface="Calibri"/>
              <a:sym typeface="Calibri"/>
            </a:endParaRPr>
          </a:p>
        </p:txBody>
      </p:sp>
      <p:sp>
        <p:nvSpPr>
          <p:cNvPr id="153" name="Google Shape;153;p18"/>
          <p:cNvSpPr txBox="1"/>
          <p:nvPr/>
        </p:nvSpPr>
        <p:spPr>
          <a:xfrm>
            <a:off x="6485179" y="433804"/>
            <a:ext cx="5147555" cy="33855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Open Sans"/>
                <a:ea typeface="Open Sans"/>
                <a:cs typeface="Open Sans"/>
                <a:sym typeface="Open Sans"/>
              </a:rPr>
              <a:t>Theoretical Framework</a:t>
            </a:r>
            <a:endParaRPr b="0" i="0" sz="1400" u="none" cap="none" strike="noStrike">
              <a:solidFill>
                <a:srgbClr val="000000"/>
              </a:solidFill>
              <a:latin typeface="Arial"/>
              <a:ea typeface="Arial"/>
              <a:cs typeface="Arial"/>
              <a:sym typeface="Arial"/>
            </a:endParaRPr>
          </a:p>
        </p:txBody>
      </p:sp>
      <p:sp>
        <p:nvSpPr>
          <p:cNvPr id="154" name="Google Shape;154;p18"/>
          <p:cNvSpPr txBox="1"/>
          <p:nvPr/>
        </p:nvSpPr>
        <p:spPr>
          <a:xfrm>
            <a:off x="6312310" y="2042736"/>
            <a:ext cx="5247393"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chemeClr val="lt1"/>
                </a:solidFill>
                <a:latin typeface="Open Sans"/>
                <a:ea typeface="Open Sans"/>
                <a:cs typeface="Open Sans"/>
                <a:sym typeface="Open Sans"/>
              </a:rPr>
            </a:br>
            <a:endParaRPr b="0" i="0" sz="1800" u="none" cap="none" strike="noStrike">
              <a:solidFill>
                <a:schemeClr val="lt1"/>
              </a:solidFill>
              <a:latin typeface="Open Sans"/>
              <a:ea typeface="Open Sans"/>
              <a:cs typeface="Open Sans"/>
              <a:sym typeface="Open Sans"/>
            </a:endParaRPr>
          </a:p>
        </p:txBody>
      </p:sp>
      <p:pic>
        <p:nvPicPr>
          <p:cNvPr id="155" name="Google Shape;155;p18"/>
          <p:cNvPicPr preferRelativeResize="0"/>
          <p:nvPr/>
        </p:nvPicPr>
        <p:blipFill rotWithShape="1">
          <a:blip r:embed="rId3">
            <a:alphaModFix/>
          </a:blip>
          <a:srcRect b="0" l="0" r="0" t="0"/>
          <a:stretch/>
        </p:blipFill>
        <p:spPr>
          <a:xfrm>
            <a:off x="632297" y="2067961"/>
            <a:ext cx="1074291" cy="1289149"/>
          </a:xfrm>
          <a:prstGeom prst="rect">
            <a:avLst/>
          </a:prstGeom>
          <a:noFill/>
          <a:ln>
            <a:noFill/>
          </a:ln>
        </p:spPr>
      </p:pic>
      <p:pic>
        <p:nvPicPr>
          <p:cNvPr descr="Vladimir Propp (@vladimir-propp) / Passes" id="156" name="Google Shape;156;p18"/>
          <p:cNvPicPr preferRelativeResize="0"/>
          <p:nvPr/>
        </p:nvPicPr>
        <p:blipFill rotWithShape="1">
          <a:blip r:embed="rId4">
            <a:alphaModFix/>
          </a:blip>
          <a:srcRect b="0" l="0" r="0" t="0"/>
          <a:stretch/>
        </p:blipFill>
        <p:spPr>
          <a:xfrm>
            <a:off x="550317" y="3601510"/>
            <a:ext cx="1238250" cy="1238250"/>
          </a:xfrm>
          <a:prstGeom prst="rect">
            <a:avLst/>
          </a:prstGeom>
          <a:noFill/>
          <a:ln>
            <a:noFill/>
          </a:ln>
        </p:spPr>
      </p:pic>
      <p:pic>
        <p:nvPicPr>
          <p:cNvPr id="157" name="Google Shape;157;p18"/>
          <p:cNvPicPr preferRelativeResize="0"/>
          <p:nvPr/>
        </p:nvPicPr>
        <p:blipFill rotWithShape="1">
          <a:blip r:embed="rId5">
            <a:alphaModFix/>
          </a:blip>
          <a:srcRect b="0" l="0" r="0" t="0"/>
          <a:stretch/>
        </p:blipFill>
        <p:spPr>
          <a:xfrm>
            <a:off x="197601" y="5173490"/>
            <a:ext cx="1015454" cy="1164215"/>
          </a:xfrm>
          <a:prstGeom prst="rect">
            <a:avLst/>
          </a:prstGeom>
          <a:noFill/>
          <a:ln>
            <a:noFill/>
          </a:ln>
        </p:spPr>
      </p:pic>
      <p:pic>
        <p:nvPicPr>
          <p:cNvPr id="158" name="Google Shape;158;p18"/>
          <p:cNvPicPr preferRelativeResize="0"/>
          <p:nvPr/>
        </p:nvPicPr>
        <p:blipFill rotWithShape="1">
          <a:blip r:embed="rId6">
            <a:alphaModFix/>
          </a:blip>
          <a:srcRect b="0" l="0" r="0" t="0"/>
          <a:stretch/>
        </p:blipFill>
        <p:spPr>
          <a:xfrm>
            <a:off x="1410656" y="5173490"/>
            <a:ext cx="1216950" cy="1164215"/>
          </a:xfrm>
          <a:prstGeom prst="rect">
            <a:avLst/>
          </a:prstGeom>
          <a:noFill/>
          <a:ln>
            <a:noFill/>
          </a:ln>
        </p:spPr>
      </p:pic>
      <p:sp>
        <p:nvSpPr>
          <p:cNvPr id="159" name="Google Shape;159;p18"/>
          <p:cNvSpPr txBox="1"/>
          <p:nvPr/>
        </p:nvSpPr>
        <p:spPr>
          <a:xfrm>
            <a:off x="1788567" y="4149064"/>
            <a:ext cx="111219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Open Sans"/>
                <a:ea typeface="Open Sans"/>
                <a:cs typeface="Open Sans"/>
                <a:sym typeface="Open Sans"/>
              </a:rPr>
              <a:t>Morphology of the Folktale (Vladimir Propp 1928) </a:t>
            </a:r>
            <a:endParaRPr b="0" i="0" sz="1800" u="none" cap="none" strike="noStrike">
              <a:solidFill>
                <a:schemeClr val="dk1"/>
              </a:solidFill>
              <a:latin typeface="Calibri"/>
              <a:ea typeface="Calibri"/>
              <a:cs typeface="Calibri"/>
              <a:sym typeface="Calibri"/>
            </a:endParaRPr>
          </a:p>
        </p:txBody>
      </p:sp>
      <p:sp>
        <p:nvSpPr>
          <p:cNvPr id="160" name="Google Shape;160;p18"/>
          <p:cNvSpPr txBox="1"/>
          <p:nvPr/>
        </p:nvSpPr>
        <p:spPr>
          <a:xfrm>
            <a:off x="2825207" y="5526856"/>
            <a:ext cx="916919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Open Sans"/>
                <a:ea typeface="Open Sans"/>
                <a:cs typeface="Open Sans"/>
                <a:sym typeface="Open Sans"/>
              </a:rPr>
              <a:t>"All Hits Are Flukes": Institutionalized Decision Making and the Rhetoric of Network Prime-Time Program Development (Bielby &amp; Bielby 1994)</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9"/>
          <p:cNvSpPr/>
          <p:nvPr/>
        </p:nvSpPr>
        <p:spPr>
          <a:xfrm>
            <a:off x="0" y="-191193"/>
            <a:ext cx="12192000" cy="7182197"/>
          </a:xfrm>
          <a:prstGeom prst="rect">
            <a:avLst/>
          </a:prstGeom>
          <a:solidFill>
            <a:srgbClr val="0C0C0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Open Sans"/>
              <a:ea typeface="Open Sans"/>
              <a:cs typeface="Open Sans"/>
              <a:sym typeface="Open Sans"/>
            </a:endParaRPr>
          </a:p>
        </p:txBody>
      </p:sp>
      <p:sp>
        <p:nvSpPr>
          <p:cNvPr id="167" name="Google Shape;167;p19"/>
          <p:cNvSpPr txBox="1"/>
          <p:nvPr/>
        </p:nvSpPr>
        <p:spPr>
          <a:xfrm>
            <a:off x="632296" y="1060864"/>
            <a:ext cx="1122950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0" lang="en-US" sz="4800" u="none" cap="none" strike="noStrike">
                <a:solidFill>
                  <a:srgbClr val="E6B012"/>
                </a:solidFill>
                <a:latin typeface="Open Sans"/>
                <a:ea typeface="Open Sans"/>
                <a:cs typeface="Open Sans"/>
                <a:sym typeface="Open Sans"/>
              </a:rPr>
              <a:t>Sample Set</a:t>
            </a:r>
            <a:endParaRPr b="0" i="0" sz="1400" u="none" cap="none" strike="noStrike">
              <a:solidFill>
                <a:srgbClr val="000000"/>
              </a:solidFill>
              <a:latin typeface="Arial"/>
              <a:ea typeface="Arial"/>
              <a:cs typeface="Arial"/>
              <a:sym typeface="Arial"/>
            </a:endParaRPr>
          </a:p>
        </p:txBody>
      </p:sp>
      <p:cxnSp>
        <p:nvCxnSpPr>
          <p:cNvPr id="168" name="Google Shape;168;p19"/>
          <p:cNvCxnSpPr/>
          <p:nvPr/>
        </p:nvCxnSpPr>
        <p:spPr>
          <a:xfrm>
            <a:off x="705328" y="434835"/>
            <a:ext cx="10854375" cy="0"/>
          </a:xfrm>
          <a:prstGeom prst="straightConnector1">
            <a:avLst/>
          </a:prstGeom>
          <a:noFill/>
          <a:ln cap="flat" cmpd="sng" w="19050">
            <a:solidFill>
              <a:schemeClr val="lt1"/>
            </a:solidFill>
            <a:prstDash val="solid"/>
            <a:miter lim="800000"/>
            <a:headEnd len="sm" w="sm" type="none"/>
            <a:tailEnd len="sm" w="sm" type="none"/>
          </a:ln>
        </p:spPr>
      </p:cxnSp>
      <p:cxnSp>
        <p:nvCxnSpPr>
          <p:cNvPr id="169" name="Google Shape;169;p19"/>
          <p:cNvCxnSpPr/>
          <p:nvPr/>
        </p:nvCxnSpPr>
        <p:spPr>
          <a:xfrm flipH="1" rot="10800000">
            <a:off x="705328" y="773390"/>
            <a:ext cx="10854375" cy="13506"/>
          </a:xfrm>
          <a:prstGeom prst="straightConnector1">
            <a:avLst/>
          </a:prstGeom>
          <a:noFill/>
          <a:ln cap="flat" cmpd="sng" w="19050">
            <a:solidFill>
              <a:schemeClr val="lt1"/>
            </a:solidFill>
            <a:prstDash val="solid"/>
            <a:miter lim="800000"/>
            <a:headEnd len="sm" w="sm" type="none"/>
            <a:tailEnd len="sm" w="sm" type="none"/>
          </a:ln>
        </p:spPr>
      </p:cxnSp>
      <p:sp>
        <p:nvSpPr>
          <p:cNvPr id="170" name="Google Shape;170;p19"/>
          <p:cNvSpPr txBox="1"/>
          <p:nvPr/>
        </p:nvSpPr>
        <p:spPr>
          <a:xfrm>
            <a:off x="632297" y="434835"/>
            <a:ext cx="546370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Open Sans"/>
                <a:ea typeface="Open Sans"/>
                <a:cs typeface="Open Sans"/>
                <a:sym typeface="Open Sans"/>
              </a:rPr>
              <a:t>Scripted Justice</a:t>
            </a:r>
            <a:endParaRPr b="0" i="0" sz="1400" u="none" cap="none" strike="noStrike">
              <a:solidFill>
                <a:srgbClr val="000000"/>
              </a:solidFill>
              <a:latin typeface="Arial"/>
              <a:ea typeface="Arial"/>
              <a:cs typeface="Arial"/>
              <a:sym typeface="Arial"/>
            </a:endParaRPr>
          </a:p>
        </p:txBody>
      </p:sp>
      <p:sp>
        <p:nvSpPr>
          <p:cNvPr id="171" name="Google Shape;171;p19"/>
          <p:cNvSpPr txBox="1"/>
          <p:nvPr/>
        </p:nvSpPr>
        <p:spPr>
          <a:xfrm>
            <a:off x="632296" y="2038953"/>
            <a:ext cx="11121900" cy="18466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Open Sans"/>
                <a:ea typeface="Open Sans"/>
                <a:cs typeface="Open Sans"/>
                <a:sym typeface="Open Sans"/>
              </a:rPr>
              <a:t>60 Episodes analyzed (14% of 456 Episodes from 1991-2010)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Open Sans"/>
                <a:ea typeface="Open Sans"/>
                <a:cs typeface="Open Sans"/>
                <a:sym typeface="Open Sans"/>
              </a:rPr>
              <a:t>65 Instances of Force Recorded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0"/>
          <p:cNvSpPr/>
          <p:nvPr/>
        </p:nvSpPr>
        <p:spPr>
          <a:xfrm>
            <a:off x="0" y="-274320"/>
            <a:ext cx="12192000" cy="7190509"/>
          </a:xfrm>
          <a:prstGeom prst="rect">
            <a:avLst/>
          </a:prstGeom>
          <a:solidFill>
            <a:srgbClr val="0C0C0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400"/>
              <a:buFont typeface="Arial"/>
              <a:buNone/>
            </a:pPr>
            <a:r>
              <a:t/>
            </a:r>
            <a:endParaRPr b="0" i="0" sz="5400" u="none" cap="none" strike="noStrike">
              <a:solidFill>
                <a:schemeClr val="lt1"/>
              </a:solidFill>
              <a:latin typeface="Open Sans"/>
              <a:ea typeface="Open Sans"/>
              <a:cs typeface="Open Sans"/>
              <a:sym typeface="Open Sans"/>
            </a:endParaRPr>
          </a:p>
        </p:txBody>
      </p:sp>
      <p:sp>
        <p:nvSpPr>
          <p:cNvPr id="177" name="Google Shape;177;p20"/>
          <p:cNvSpPr txBox="1"/>
          <p:nvPr/>
        </p:nvSpPr>
        <p:spPr>
          <a:xfrm>
            <a:off x="2976221" y="2118218"/>
            <a:ext cx="866839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0" lang="en-US" sz="4800" u="none" cap="none" strike="noStrike">
                <a:solidFill>
                  <a:schemeClr val="lt1"/>
                </a:solidFill>
                <a:latin typeface="Open Sans"/>
                <a:ea typeface="Open Sans"/>
                <a:cs typeface="Open Sans"/>
                <a:sym typeface="Open Sans"/>
              </a:rPr>
              <a:t>Conclusions</a:t>
            </a:r>
            <a:endParaRPr b="0" i="0" sz="1400" u="none" cap="none" strike="noStrike">
              <a:solidFill>
                <a:srgbClr val="000000"/>
              </a:solidFill>
              <a:latin typeface="Arial"/>
              <a:ea typeface="Arial"/>
              <a:cs typeface="Arial"/>
              <a:sym typeface="Arial"/>
            </a:endParaRPr>
          </a:p>
        </p:txBody>
      </p:sp>
      <p:sp>
        <p:nvSpPr>
          <p:cNvPr id="178" name="Google Shape;178;p20"/>
          <p:cNvSpPr txBox="1"/>
          <p:nvPr/>
        </p:nvSpPr>
        <p:spPr>
          <a:xfrm>
            <a:off x="2976221" y="429211"/>
            <a:ext cx="279281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Open Sans"/>
                <a:ea typeface="Open Sans"/>
                <a:cs typeface="Open Sans"/>
                <a:sym typeface="Open Sans"/>
              </a:rPr>
              <a:t>University of Amsterdam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Open Sans"/>
                <a:ea typeface="Open Sans"/>
                <a:cs typeface="Open Sans"/>
                <a:sym typeface="Open Sans"/>
              </a:rPr>
              <a:t>Faculty of Social Sciences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Open Sans"/>
                <a:ea typeface="Open Sans"/>
                <a:cs typeface="Open Sans"/>
                <a:sym typeface="Open Sans"/>
              </a:rPr>
              <a:t>Sociology</a:t>
            </a:r>
            <a:endParaRPr b="0" i="0" sz="1400" u="none" cap="none" strike="noStrike">
              <a:solidFill>
                <a:srgbClr val="000000"/>
              </a:solidFill>
              <a:latin typeface="Arial"/>
              <a:ea typeface="Arial"/>
              <a:cs typeface="Arial"/>
              <a:sym typeface="Arial"/>
            </a:endParaRPr>
          </a:p>
        </p:txBody>
      </p:sp>
      <p:cxnSp>
        <p:nvCxnSpPr>
          <p:cNvPr id="179" name="Google Shape;179;p20"/>
          <p:cNvCxnSpPr/>
          <p:nvPr/>
        </p:nvCxnSpPr>
        <p:spPr>
          <a:xfrm>
            <a:off x="3049253" y="1519936"/>
            <a:ext cx="8595360" cy="0"/>
          </a:xfrm>
          <a:prstGeom prst="straightConnector1">
            <a:avLst/>
          </a:prstGeom>
          <a:noFill/>
          <a:ln cap="flat" cmpd="sng" w="19050">
            <a:solidFill>
              <a:schemeClr val="lt1"/>
            </a:solidFill>
            <a:prstDash val="solid"/>
            <a:miter lim="800000"/>
            <a:headEnd len="sm" w="sm" type="none"/>
            <a:tailEnd len="sm" w="sm" type="none"/>
          </a:ln>
        </p:spPr>
      </p:cxnSp>
      <p:sp>
        <p:nvSpPr>
          <p:cNvPr id="180" name="Google Shape;180;p20"/>
          <p:cNvSpPr txBox="1"/>
          <p:nvPr/>
        </p:nvSpPr>
        <p:spPr>
          <a:xfrm>
            <a:off x="8820551" y="429211"/>
            <a:ext cx="2696095" cy="58477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Open Sans"/>
                <a:ea typeface="Open Sans"/>
                <a:cs typeface="Open Sans"/>
                <a:sym typeface="Open Sans"/>
              </a:rPr>
              <a:t>June</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Open Sans"/>
                <a:ea typeface="Open Sans"/>
                <a:cs typeface="Open Sans"/>
                <a:sym typeface="Open Sans"/>
              </a:rPr>
              <a:t>2024</a:t>
            </a:r>
            <a:endParaRPr b="0" i="0" sz="1400" u="none" cap="none" strike="noStrike">
              <a:solidFill>
                <a:srgbClr val="000000"/>
              </a:solidFill>
              <a:latin typeface="Arial"/>
              <a:ea typeface="Arial"/>
              <a:cs typeface="Arial"/>
              <a:sym typeface="Arial"/>
            </a:endParaRPr>
          </a:p>
        </p:txBody>
      </p:sp>
      <p:cxnSp>
        <p:nvCxnSpPr>
          <p:cNvPr id="181" name="Google Shape;181;p20"/>
          <p:cNvCxnSpPr/>
          <p:nvPr/>
        </p:nvCxnSpPr>
        <p:spPr>
          <a:xfrm>
            <a:off x="3049253" y="1871997"/>
            <a:ext cx="8595360" cy="0"/>
          </a:xfrm>
          <a:prstGeom prst="straightConnector1">
            <a:avLst/>
          </a:prstGeom>
          <a:noFill/>
          <a:ln cap="flat" cmpd="sng" w="19050">
            <a:solidFill>
              <a:schemeClr val="lt1"/>
            </a:solidFill>
            <a:prstDash val="solid"/>
            <a:miter lim="800000"/>
            <a:headEnd len="sm" w="sm" type="none"/>
            <a:tailEnd len="sm" w="sm" type="none"/>
          </a:ln>
        </p:spPr>
      </p:cxnSp>
      <p:sp>
        <p:nvSpPr>
          <p:cNvPr id="182" name="Google Shape;182;p20"/>
          <p:cNvSpPr txBox="1"/>
          <p:nvPr/>
        </p:nvSpPr>
        <p:spPr>
          <a:xfrm>
            <a:off x="2976221" y="1519936"/>
            <a:ext cx="763081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Open Sans"/>
                <a:ea typeface="Open Sans"/>
                <a:cs typeface="Open Sans"/>
                <a:sym typeface="Open Sans"/>
              </a:rPr>
              <a:t>Scripted Justice</a:t>
            </a:r>
            <a:endParaRPr b="0" i="0" sz="1600" u="none" cap="none" strike="noStrike">
              <a:solidFill>
                <a:schemeClr val="dk1"/>
              </a:solidFill>
              <a:latin typeface="Calibri"/>
              <a:ea typeface="Calibri"/>
              <a:cs typeface="Calibri"/>
              <a:sym typeface="Calibri"/>
            </a:endParaRPr>
          </a:p>
        </p:txBody>
      </p:sp>
      <p:pic>
        <p:nvPicPr>
          <p:cNvPr id="183" name="Google Shape;183;p20"/>
          <p:cNvPicPr preferRelativeResize="0"/>
          <p:nvPr/>
        </p:nvPicPr>
        <p:blipFill>
          <a:blip r:embed="rId3">
            <a:alphaModFix/>
          </a:blip>
          <a:stretch>
            <a:fillRect/>
          </a:stretch>
        </p:blipFill>
        <p:spPr>
          <a:xfrm>
            <a:off x="494700" y="429200"/>
            <a:ext cx="1966101" cy="1977576"/>
          </a:xfrm>
          <a:prstGeom prst="rect">
            <a:avLst/>
          </a:prstGeom>
          <a:noFill/>
          <a:ln>
            <a:noFill/>
          </a:ln>
        </p:spPr>
      </p:pic>
    </p:spTree>
  </p:cSld>
  <p:clrMapOvr>
    <a:masterClrMapping/>
  </p:clrMapOvr>
  <p:transition spd="med">
    <p:push/>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1"/>
          <p:cNvSpPr/>
          <p:nvPr/>
        </p:nvSpPr>
        <p:spPr>
          <a:xfrm>
            <a:off x="0" y="-191193"/>
            <a:ext cx="12192000" cy="7182197"/>
          </a:xfrm>
          <a:prstGeom prst="rect">
            <a:avLst/>
          </a:prstGeom>
          <a:solidFill>
            <a:srgbClr val="0C0C0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Open Sans"/>
              <a:ea typeface="Open Sans"/>
              <a:cs typeface="Open Sans"/>
              <a:sym typeface="Open Sans"/>
            </a:endParaRPr>
          </a:p>
        </p:txBody>
      </p:sp>
      <p:sp>
        <p:nvSpPr>
          <p:cNvPr id="190" name="Google Shape;190;p21"/>
          <p:cNvSpPr txBox="1"/>
          <p:nvPr/>
        </p:nvSpPr>
        <p:spPr>
          <a:xfrm>
            <a:off x="668811" y="1999521"/>
            <a:ext cx="10927407" cy="280076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800"/>
              <a:buFont typeface="Arial"/>
              <a:buNone/>
            </a:pPr>
            <a:r>
              <a:rPr b="1" i="0" lang="en-US" sz="8800" u="none" cap="none" strike="noStrike">
                <a:solidFill>
                  <a:schemeClr val="lt1"/>
                </a:solidFill>
                <a:latin typeface="Open Sans"/>
                <a:ea typeface="Open Sans"/>
                <a:cs typeface="Open Sans"/>
                <a:sym typeface="Open Sans"/>
              </a:rPr>
              <a:t>Use of force </a:t>
            </a:r>
            <a:r>
              <a:rPr b="1" i="0" lang="en-US" sz="8800" u="none" cap="none" strike="noStrike">
                <a:solidFill>
                  <a:srgbClr val="F54029"/>
                </a:solidFill>
                <a:latin typeface="Open Sans"/>
                <a:ea typeface="Open Sans"/>
                <a:cs typeface="Open Sans"/>
                <a:sym typeface="Open Sans"/>
              </a:rPr>
              <a:t>did not </a:t>
            </a:r>
            <a:r>
              <a:rPr b="1" i="0" lang="en-US" sz="8800" u="none" cap="none" strike="noStrike">
                <a:solidFill>
                  <a:schemeClr val="lt1"/>
                </a:solidFill>
                <a:latin typeface="Open Sans"/>
                <a:ea typeface="Open Sans"/>
                <a:cs typeface="Open Sans"/>
                <a:sym typeface="Open Sans"/>
              </a:rPr>
              <a:t>change statistically</a:t>
            </a:r>
            <a:endParaRPr b="1" i="0" sz="8800" u="none" cap="none" strike="noStrike">
              <a:solidFill>
                <a:srgbClr val="F54029"/>
              </a:solidFill>
              <a:latin typeface="Open Sans"/>
              <a:ea typeface="Open Sans"/>
              <a:cs typeface="Open Sans"/>
              <a:sym typeface="Open Sans"/>
            </a:endParaRPr>
          </a:p>
        </p:txBody>
      </p:sp>
      <p:cxnSp>
        <p:nvCxnSpPr>
          <p:cNvPr id="191" name="Google Shape;191;p21"/>
          <p:cNvCxnSpPr/>
          <p:nvPr/>
        </p:nvCxnSpPr>
        <p:spPr>
          <a:xfrm>
            <a:off x="705328" y="434835"/>
            <a:ext cx="10854375" cy="0"/>
          </a:xfrm>
          <a:prstGeom prst="straightConnector1">
            <a:avLst/>
          </a:prstGeom>
          <a:noFill/>
          <a:ln cap="flat" cmpd="sng" w="19050">
            <a:solidFill>
              <a:schemeClr val="lt1"/>
            </a:solidFill>
            <a:prstDash val="solid"/>
            <a:miter lim="800000"/>
            <a:headEnd len="sm" w="sm" type="none"/>
            <a:tailEnd len="sm" w="sm" type="none"/>
          </a:ln>
        </p:spPr>
      </p:cxnSp>
      <p:cxnSp>
        <p:nvCxnSpPr>
          <p:cNvPr id="192" name="Google Shape;192;p21"/>
          <p:cNvCxnSpPr/>
          <p:nvPr/>
        </p:nvCxnSpPr>
        <p:spPr>
          <a:xfrm flipH="1" rot="10800000">
            <a:off x="705328" y="773390"/>
            <a:ext cx="10854375" cy="13506"/>
          </a:xfrm>
          <a:prstGeom prst="straightConnector1">
            <a:avLst/>
          </a:prstGeom>
          <a:noFill/>
          <a:ln cap="flat" cmpd="sng" w="19050">
            <a:solidFill>
              <a:schemeClr val="lt1"/>
            </a:solidFill>
            <a:prstDash val="solid"/>
            <a:miter lim="800000"/>
            <a:headEnd len="sm" w="sm" type="none"/>
            <a:tailEnd len="sm" w="sm" type="none"/>
          </a:ln>
        </p:spPr>
      </p:cxnSp>
      <p:sp>
        <p:nvSpPr>
          <p:cNvPr id="193" name="Google Shape;193;p21"/>
          <p:cNvSpPr txBox="1"/>
          <p:nvPr/>
        </p:nvSpPr>
        <p:spPr>
          <a:xfrm>
            <a:off x="632297" y="434835"/>
            <a:ext cx="546370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Open Sans"/>
                <a:ea typeface="Open Sans"/>
                <a:cs typeface="Open Sans"/>
                <a:sym typeface="Open Sans"/>
              </a:rPr>
              <a:t>Scripted Justice</a:t>
            </a:r>
            <a:endParaRPr b="0" i="0" sz="1600" u="none" cap="none" strike="noStrike">
              <a:solidFill>
                <a:schemeClr val="dk1"/>
              </a:solidFill>
              <a:latin typeface="Calibri"/>
              <a:ea typeface="Calibri"/>
              <a:cs typeface="Calibri"/>
              <a:sym typeface="Calibri"/>
            </a:endParaRPr>
          </a:p>
        </p:txBody>
      </p:sp>
      <p:sp>
        <p:nvSpPr>
          <p:cNvPr id="194" name="Google Shape;194;p21"/>
          <p:cNvSpPr txBox="1"/>
          <p:nvPr/>
        </p:nvSpPr>
        <p:spPr>
          <a:xfrm>
            <a:off x="6485179" y="434835"/>
            <a:ext cx="5147555" cy="33855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Open Sans"/>
                <a:ea typeface="Open Sans"/>
                <a:cs typeface="Open Sans"/>
                <a:sym typeface="Open Sans"/>
              </a:rPr>
              <a:t>Conclusion</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2"/>
          <p:cNvSpPr/>
          <p:nvPr/>
        </p:nvSpPr>
        <p:spPr>
          <a:xfrm>
            <a:off x="0" y="-191193"/>
            <a:ext cx="12192000" cy="7182197"/>
          </a:xfrm>
          <a:prstGeom prst="rect">
            <a:avLst/>
          </a:prstGeom>
          <a:solidFill>
            <a:srgbClr val="0C0C0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Open Sans"/>
              <a:ea typeface="Open Sans"/>
              <a:cs typeface="Open Sans"/>
              <a:sym typeface="Open Sans"/>
            </a:endParaRPr>
          </a:p>
        </p:txBody>
      </p:sp>
      <p:sp>
        <p:nvSpPr>
          <p:cNvPr id="201" name="Google Shape;201;p22"/>
          <p:cNvSpPr txBox="1"/>
          <p:nvPr/>
        </p:nvSpPr>
        <p:spPr>
          <a:xfrm>
            <a:off x="632296" y="2659727"/>
            <a:ext cx="10927407"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400"/>
              <a:buFont typeface="Arial"/>
              <a:buNone/>
            </a:pPr>
            <a:r>
              <a:rPr b="1" i="0" lang="en-US" sz="5400" u="none" cap="none" strike="noStrike">
                <a:solidFill>
                  <a:schemeClr val="lt1"/>
                </a:solidFill>
                <a:latin typeface="Open Sans"/>
                <a:ea typeface="Open Sans"/>
                <a:cs typeface="Open Sans"/>
                <a:sym typeface="Open Sans"/>
              </a:rPr>
              <a:t>SES was the</a:t>
            </a:r>
            <a:r>
              <a:rPr b="1" i="0" lang="en-US" sz="5400" u="none" cap="none" strike="noStrike">
                <a:solidFill>
                  <a:srgbClr val="006EC7"/>
                </a:solidFill>
                <a:latin typeface="Open Sans"/>
                <a:ea typeface="Open Sans"/>
                <a:cs typeface="Open Sans"/>
                <a:sym typeface="Open Sans"/>
              </a:rPr>
              <a:t> greatest determining factor besides sex</a:t>
            </a:r>
            <a:endParaRPr b="0" i="0" sz="1400" u="none" cap="none" strike="noStrike">
              <a:solidFill>
                <a:srgbClr val="000000"/>
              </a:solidFill>
              <a:latin typeface="Arial"/>
              <a:ea typeface="Arial"/>
              <a:cs typeface="Arial"/>
              <a:sym typeface="Arial"/>
            </a:endParaRPr>
          </a:p>
        </p:txBody>
      </p:sp>
      <p:cxnSp>
        <p:nvCxnSpPr>
          <p:cNvPr id="202" name="Google Shape;202;p22"/>
          <p:cNvCxnSpPr/>
          <p:nvPr/>
        </p:nvCxnSpPr>
        <p:spPr>
          <a:xfrm>
            <a:off x="705328" y="434835"/>
            <a:ext cx="10854375" cy="0"/>
          </a:xfrm>
          <a:prstGeom prst="straightConnector1">
            <a:avLst/>
          </a:prstGeom>
          <a:noFill/>
          <a:ln cap="flat" cmpd="sng" w="19050">
            <a:solidFill>
              <a:schemeClr val="lt1"/>
            </a:solidFill>
            <a:prstDash val="solid"/>
            <a:miter lim="800000"/>
            <a:headEnd len="sm" w="sm" type="none"/>
            <a:tailEnd len="sm" w="sm" type="none"/>
          </a:ln>
        </p:spPr>
      </p:cxnSp>
      <p:cxnSp>
        <p:nvCxnSpPr>
          <p:cNvPr id="203" name="Google Shape;203;p22"/>
          <p:cNvCxnSpPr/>
          <p:nvPr/>
        </p:nvCxnSpPr>
        <p:spPr>
          <a:xfrm flipH="1" rot="10800000">
            <a:off x="705328" y="773390"/>
            <a:ext cx="10854375" cy="13506"/>
          </a:xfrm>
          <a:prstGeom prst="straightConnector1">
            <a:avLst/>
          </a:prstGeom>
          <a:noFill/>
          <a:ln cap="flat" cmpd="sng" w="19050">
            <a:solidFill>
              <a:schemeClr val="lt1"/>
            </a:solidFill>
            <a:prstDash val="solid"/>
            <a:miter lim="800000"/>
            <a:headEnd len="sm" w="sm" type="none"/>
            <a:tailEnd len="sm" w="sm" type="none"/>
          </a:ln>
        </p:spPr>
      </p:cxnSp>
      <p:sp>
        <p:nvSpPr>
          <p:cNvPr id="204" name="Google Shape;204;p22"/>
          <p:cNvSpPr txBox="1"/>
          <p:nvPr/>
        </p:nvSpPr>
        <p:spPr>
          <a:xfrm>
            <a:off x="632297" y="434835"/>
            <a:ext cx="546370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Open Sans"/>
                <a:ea typeface="Open Sans"/>
                <a:cs typeface="Open Sans"/>
                <a:sym typeface="Open Sans"/>
              </a:rPr>
              <a:t>Scripted Justice</a:t>
            </a:r>
            <a:endParaRPr b="0" i="0" sz="1600" u="none" cap="none" strike="noStrike">
              <a:solidFill>
                <a:schemeClr val="dk1"/>
              </a:solidFill>
              <a:latin typeface="Calibri"/>
              <a:ea typeface="Calibri"/>
              <a:cs typeface="Calibri"/>
              <a:sym typeface="Calibri"/>
            </a:endParaRPr>
          </a:p>
        </p:txBody>
      </p:sp>
      <p:sp>
        <p:nvSpPr>
          <p:cNvPr id="205" name="Google Shape;205;p22"/>
          <p:cNvSpPr txBox="1"/>
          <p:nvPr/>
        </p:nvSpPr>
        <p:spPr>
          <a:xfrm>
            <a:off x="6485179" y="434835"/>
            <a:ext cx="5147555" cy="33855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Open Sans"/>
                <a:ea typeface="Open Sans"/>
                <a:cs typeface="Open Sans"/>
                <a:sym typeface="Open Sans"/>
              </a:rPr>
              <a:t>Conclusion</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3"/>
          <p:cNvSpPr/>
          <p:nvPr/>
        </p:nvSpPr>
        <p:spPr>
          <a:xfrm>
            <a:off x="0" y="-191193"/>
            <a:ext cx="12192000" cy="7182197"/>
          </a:xfrm>
          <a:prstGeom prst="rect">
            <a:avLst/>
          </a:prstGeom>
          <a:solidFill>
            <a:srgbClr val="0C0C0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Open Sans"/>
              <a:ea typeface="Open Sans"/>
              <a:cs typeface="Open Sans"/>
              <a:sym typeface="Open Sans"/>
            </a:endParaRPr>
          </a:p>
        </p:txBody>
      </p:sp>
      <p:sp>
        <p:nvSpPr>
          <p:cNvPr id="212" name="Google Shape;212;p23"/>
          <p:cNvSpPr txBox="1"/>
          <p:nvPr/>
        </p:nvSpPr>
        <p:spPr>
          <a:xfrm>
            <a:off x="617985" y="2175008"/>
            <a:ext cx="10927407"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0" lang="en-US" sz="4800" u="none" cap="none" strike="noStrike">
                <a:solidFill>
                  <a:schemeClr val="lt1"/>
                </a:solidFill>
                <a:latin typeface="Open Sans"/>
                <a:ea typeface="Open Sans"/>
                <a:cs typeface="Open Sans"/>
                <a:sym typeface="Open Sans"/>
              </a:rPr>
              <a:t>Race was not found to be statistically significant, </a:t>
            </a:r>
            <a:r>
              <a:rPr b="1" i="0" lang="en-US" sz="4800" u="none" cap="none" strike="noStrike">
                <a:solidFill>
                  <a:srgbClr val="4FA800"/>
                </a:solidFill>
                <a:latin typeface="Open Sans"/>
                <a:ea typeface="Open Sans"/>
                <a:cs typeface="Open Sans"/>
                <a:sym typeface="Open Sans"/>
              </a:rPr>
              <a:t>differing greatly from real world data</a:t>
            </a:r>
            <a:endParaRPr b="0" i="0" sz="1400" u="none" cap="none" strike="noStrike">
              <a:solidFill>
                <a:srgbClr val="000000"/>
              </a:solidFill>
              <a:latin typeface="Arial"/>
              <a:ea typeface="Arial"/>
              <a:cs typeface="Arial"/>
              <a:sym typeface="Arial"/>
            </a:endParaRPr>
          </a:p>
        </p:txBody>
      </p:sp>
      <p:cxnSp>
        <p:nvCxnSpPr>
          <p:cNvPr id="213" name="Google Shape;213;p23"/>
          <p:cNvCxnSpPr/>
          <p:nvPr/>
        </p:nvCxnSpPr>
        <p:spPr>
          <a:xfrm>
            <a:off x="705328" y="434835"/>
            <a:ext cx="10854375" cy="0"/>
          </a:xfrm>
          <a:prstGeom prst="straightConnector1">
            <a:avLst/>
          </a:prstGeom>
          <a:noFill/>
          <a:ln cap="flat" cmpd="sng" w="19050">
            <a:solidFill>
              <a:schemeClr val="lt1"/>
            </a:solidFill>
            <a:prstDash val="solid"/>
            <a:miter lim="800000"/>
            <a:headEnd len="sm" w="sm" type="none"/>
            <a:tailEnd len="sm" w="sm" type="none"/>
          </a:ln>
        </p:spPr>
      </p:cxnSp>
      <p:cxnSp>
        <p:nvCxnSpPr>
          <p:cNvPr id="214" name="Google Shape;214;p23"/>
          <p:cNvCxnSpPr/>
          <p:nvPr/>
        </p:nvCxnSpPr>
        <p:spPr>
          <a:xfrm flipH="1" rot="10800000">
            <a:off x="705328" y="773390"/>
            <a:ext cx="10854375" cy="13506"/>
          </a:xfrm>
          <a:prstGeom prst="straightConnector1">
            <a:avLst/>
          </a:prstGeom>
          <a:noFill/>
          <a:ln cap="flat" cmpd="sng" w="19050">
            <a:solidFill>
              <a:schemeClr val="lt1"/>
            </a:solidFill>
            <a:prstDash val="solid"/>
            <a:miter lim="800000"/>
            <a:headEnd len="sm" w="sm" type="none"/>
            <a:tailEnd len="sm" w="sm" type="none"/>
          </a:ln>
        </p:spPr>
      </p:cxnSp>
      <p:sp>
        <p:nvSpPr>
          <p:cNvPr id="215" name="Google Shape;215;p23"/>
          <p:cNvSpPr txBox="1"/>
          <p:nvPr/>
        </p:nvSpPr>
        <p:spPr>
          <a:xfrm>
            <a:off x="632297" y="434835"/>
            <a:ext cx="546370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Open Sans"/>
                <a:ea typeface="Open Sans"/>
                <a:cs typeface="Open Sans"/>
                <a:sym typeface="Open Sans"/>
              </a:rPr>
              <a:t>Scripted Justice</a:t>
            </a:r>
            <a:endParaRPr b="0" i="0" sz="1600" u="none" cap="none" strike="noStrike">
              <a:solidFill>
                <a:schemeClr val="dk1"/>
              </a:solidFill>
              <a:latin typeface="Calibri"/>
              <a:ea typeface="Calibri"/>
              <a:cs typeface="Calibri"/>
              <a:sym typeface="Calibri"/>
            </a:endParaRPr>
          </a:p>
        </p:txBody>
      </p:sp>
      <p:sp>
        <p:nvSpPr>
          <p:cNvPr id="216" name="Google Shape;216;p23"/>
          <p:cNvSpPr txBox="1"/>
          <p:nvPr/>
        </p:nvSpPr>
        <p:spPr>
          <a:xfrm>
            <a:off x="6485179" y="434835"/>
            <a:ext cx="5147555" cy="33855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Open Sans"/>
                <a:ea typeface="Open Sans"/>
                <a:cs typeface="Open Sans"/>
                <a:sym typeface="Open Sans"/>
              </a:rPr>
              <a:t>Conclusion</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4"/>
          <p:cNvSpPr/>
          <p:nvPr/>
        </p:nvSpPr>
        <p:spPr>
          <a:xfrm>
            <a:off x="0" y="-274320"/>
            <a:ext cx="12192000" cy="7190509"/>
          </a:xfrm>
          <a:prstGeom prst="rect">
            <a:avLst/>
          </a:prstGeom>
          <a:solidFill>
            <a:srgbClr val="0C0C0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400"/>
              <a:buFont typeface="Arial"/>
              <a:buNone/>
            </a:pPr>
            <a:r>
              <a:t/>
            </a:r>
            <a:endParaRPr b="0" i="0" sz="5400" u="none" cap="none" strike="noStrike">
              <a:solidFill>
                <a:schemeClr val="lt1"/>
              </a:solidFill>
              <a:latin typeface="Open Sans"/>
              <a:ea typeface="Open Sans"/>
              <a:cs typeface="Open Sans"/>
              <a:sym typeface="Open Sans"/>
            </a:endParaRPr>
          </a:p>
        </p:txBody>
      </p:sp>
      <p:sp>
        <p:nvSpPr>
          <p:cNvPr id="222" name="Google Shape;222;p24"/>
          <p:cNvSpPr txBox="1"/>
          <p:nvPr/>
        </p:nvSpPr>
        <p:spPr>
          <a:xfrm>
            <a:off x="2976221" y="2118218"/>
            <a:ext cx="866839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0" lang="en-US" sz="4800" u="none" cap="none" strike="noStrike">
                <a:solidFill>
                  <a:schemeClr val="lt1"/>
                </a:solidFill>
                <a:latin typeface="Open Sans"/>
                <a:ea typeface="Open Sans"/>
                <a:cs typeface="Open Sans"/>
                <a:sym typeface="Open Sans"/>
              </a:rPr>
              <a:t>Any Questions?</a:t>
            </a:r>
            <a:endParaRPr b="0" i="0" sz="1400" u="none" cap="none" strike="noStrike">
              <a:solidFill>
                <a:srgbClr val="000000"/>
              </a:solidFill>
              <a:latin typeface="Arial"/>
              <a:ea typeface="Arial"/>
              <a:cs typeface="Arial"/>
              <a:sym typeface="Arial"/>
            </a:endParaRPr>
          </a:p>
        </p:txBody>
      </p:sp>
      <p:sp>
        <p:nvSpPr>
          <p:cNvPr id="223" name="Google Shape;223;p24"/>
          <p:cNvSpPr txBox="1"/>
          <p:nvPr/>
        </p:nvSpPr>
        <p:spPr>
          <a:xfrm>
            <a:off x="2976221" y="429211"/>
            <a:ext cx="2792700" cy="831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600"/>
              <a:buFont typeface="Arial"/>
              <a:buNone/>
            </a:pPr>
            <a:r>
              <a:rPr lang="en-US" sz="1600">
                <a:solidFill>
                  <a:schemeClr val="lt1"/>
                </a:solidFill>
                <a:latin typeface="Open Sans"/>
                <a:ea typeface="Open Sans"/>
                <a:cs typeface="Open Sans"/>
                <a:sym typeface="Open Sans"/>
              </a:rPr>
              <a:t>University of California</a:t>
            </a:r>
            <a:br>
              <a:rPr lang="en-US" sz="1600">
                <a:solidFill>
                  <a:schemeClr val="lt1"/>
                </a:solidFill>
                <a:latin typeface="Open Sans"/>
                <a:ea typeface="Open Sans"/>
                <a:cs typeface="Open Sans"/>
                <a:sym typeface="Open Sans"/>
              </a:rPr>
            </a:br>
            <a:r>
              <a:rPr lang="en-US" sz="1600">
                <a:solidFill>
                  <a:schemeClr val="lt1"/>
                </a:solidFill>
                <a:latin typeface="Open Sans"/>
                <a:ea typeface="Open Sans"/>
                <a:cs typeface="Open Sans"/>
                <a:sym typeface="Open Sans"/>
              </a:rPr>
              <a:t>San Diego: School of Global Policy and Strategy</a:t>
            </a:r>
            <a:endParaRPr sz="1600">
              <a:solidFill>
                <a:schemeClr val="lt1"/>
              </a:solidFill>
              <a:latin typeface="Open Sans"/>
              <a:ea typeface="Open Sans"/>
              <a:cs typeface="Open Sans"/>
              <a:sym typeface="Open Sans"/>
            </a:endParaRPr>
          </a:p>
        </p:txBody>
      </p:sp>
      <p:cxnSp>
        <p:nvCxnSpPr>
          <p:cNvPr id="224" name="Google Shape;224;p24"/>
          <p:cNvCxnSpPr/>
          <p:nvPr/>
        </p:nvCxnSpPr>
        <p:spPr>
          <a:xfrm>
            <a:off x="3049253" y="1519936"/>
            <a:ext cx="8595360" cy="0"/>
          </a:xfrm>
          <a:prstGeom prst="straightConnector1">
            <a:avLst/>
          </a:prstGeom>
          <a:noFill/>
          <a:ln cap="flat" cmpd="sng" w="19050">
            <a:solidFill>
              <a:schemeClr val="lt1"/>
            </a:solidFill>
            <a:prstDash val="solid"/>
            <a:miter lim="800000"/>
            <a:headEnd len="sm" w="sm" type="none"/>
            <a:tailEnd len="sm" w="sm" type="none"/>
          </a:ln>
        </p:spPr>
      </p:cxnSp>
      <p:sp>
        <p:nvSpPr>
          <p:cNvPr id="225" name="Google Shape;225;p24"/>
          <p:cNvSpPr txBox="1"/>
          <p:nvPr/>
        </p:nvSpPr>
        <p:spPr>
          <a:xfrm>
            <a:off x="8820551" y="429211"/>
            <a:ext cx="2696100" cy="338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rPr lang="en-US" sz="1600">
                <a:solidFill>
                  <a:schemeClr val="lt1"/>
                </a:solidFill>
                <a:latin typeface="Open Sans"/>
                <a:ea typeface="Open Sans"/>
                <a:cs typeface="Open Sans"/>
                <a:sym typeface="Open Sans"/>
              </a:rPr>
              <a:t>Date</a:t>
            </a:r>
            <a:endParaRPr b="0" i="0" sz="1400" u="none" cap="none" strike="noStrike">
              <a:solidFill>
                <a:srgbClr val="000000"/>
              </a:solidFill>
              <a:latin typeface="Arial"/>
              <a:ea typeface="Arial"/>
              <a:cs typeface="Arial"/>
              <a:sym typeface="Arial"/>
            </a:endParaRPr>
          </a:p>
        </p:txBody>
      </p:sp>
      <p:cxnSp>
        <p:nvCxnSpPr>
          <p:cNvPr id="226" name="Google Shape;226;p24"/>
          <p:cNvCxnSpPr/>
          <p:nvPr/>
        </p:nvCxnSpPr>
        <p:spPr>
          <a:xfrm>
            <a:off x="3049253" y="1871997"/>
            <a:ext cx="8595360" cy="0"/>
          </a:xfrm>
          <a:prstGeom prst="straightConnector1">
            <a:avLst/>
          </a:prstGeom>
          <a:noFill/>
          <a:ln cap="flat" cmpd="sng" w="19050">
            <a:solidFill>
              <a:schemeClr val="lt1"/>
            </a:solidFill>
            <a:prstDash val="solid"/>
            <a:miter lim="800000"/>
            <a:headEnd len="sm" w="sm" type="none"/>
            <a:tailEnd len="sm" w="sm" type="none"/>
          </a:ln>
        </p:spPr>
      </p:cxnSp>
      <p:sp>
        <p:nvSpPr>
          <p:cNvPr id="227" name="Google Shape;227;p24"/>
          <p:cNvSpPr txBox="1"/>
          <p:nvPr/>
        </p:nvSpPr>
        <p:spPr>
          <a:xfrm>
            <a:off x="2976221" y="1519936"/>
            <a:ext cx="763081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lang="en-US" sz="1600">
                <a:solidFill>
                  <a:schemeClr val="lt1"/>
                </a:solidFill>
                <a:latin typeface="Open Sans"/>
                <a:ea typeface="Open Sans"/>
                <a:cs typeface="Open Sans"/>
                <a:sym typeface="Open Sans"/>
              </a:rPr>
              <a:t>Title</a:t>
            </a:r>
            <a:endParaRPr b="0" i="0" sz="1600" u="none" cap="none" strike="noStrike">
              <a:solidFill>
                <a:schemeClr val="dk1"/>
              </a:solidFill>
              <a:latin typeface="Calibri"/>
              <a:ea typeface="Calibri"/>
              <a:cs typeface="Calibri"/>
              <a:sym typeface="Calibri"/>
            </a:endParaRPr>
          </a:p>
        </p:txBody>
      </p:sp>
      <p:pic>
        <p:nvPicPr>
          <p:cNvPr id="228" name="Google Shape;228;p24"/>
          <p:cNvPicPr preferRelativeResize="0"/>
          <p:nvPr/>
        </p:nvPicPr>
        <p:blipFill>
          <a:blip r:embed="rId3">
            <a:alphaModFix/>
          </a:blip>
          <a:stretch>
            <a:fillRect/>
          </a:stretch>
        </p:blipFill>
        <p:spPr>
          <a:xfrm>
            <a:off x="494700" y="429200"/>
            <a:ext cx="1966101" cy="1977576"/>
          </a:xfrm>
          <a:prstGeom prst="rect">
            <a:avLst/>
          </a:prstGeom>
          <a:noFill/>
          <a:ln>
            <a:noFill/>
          </a:ln>
        </p:spPr>
      </p:pic>
    </p:spTree>
  </p:cSld>
  <p:clrMapOvr>
    <a:masterClrMapping/>
  </p:clrMapOvr>
  <p:transition spd="med">
    <p:push/>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